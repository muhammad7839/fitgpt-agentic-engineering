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98ecb452182422f" /><Relationship Type="http://schemas.openxmlformats.org/officeDocument/2006/relationships/extended-properties" Target="/docProps/app.xml" Id="R0d72f11310374f99" /><Relationship Type="http://schemas.openxmlformats.org/officeDocument/2006/relationships/officeDocument" Target="/ppt/presentation.xml" Id="Re2da9fa39afe40c7" /></Relationships>
</file>

<file path=ppt/presentation.xml><?xml version="1.0" encoding="utf-8"?>
<p:presentation xmlns:p="http://schemas.openxmlformats.org/presentationml/2006/main">
  <p:sldMasterIdLst>
    <p:sldMasterId xmlns:r="http://schemas.openxmlformats.org/officeDocument/2006/relationships" id="2147483648" r:id="R116d0120c4194889"/>
  </p:sldMasterIdLst>
  <p:notesMasterIdLst>
    <p:notesMasterId xmlns:r="http://schemas.openxmlformats.org/officeDocument/2006/relationships" r:id="Rcc7ed2fc6dad4b0b"/>
  </p:notesMasterIdLst>
  <p:sldIdLst>
    <p:sldId xmlns:r="http://schemas.openxmlformats.org/officeDocument/2006/relationships" id="256" r:id="Rf523da631bb74574"/>
    <p:sldId xmlns:r="http://schemas.openxmlformats.org/officeDocument/2006/relationships" id="257" r:id="R809add4b249e4e37"/>
    <p:sldId xmlns:r="http://schemas.openxmlformats.org/officeDocument/2006/relationships" id="258" r:id="R939aa57c4a2540a0"/>
    <p:sldId xmlns:r="http://schemas.openxmlformats.org/officeDocument/2006/relationships" id="259" r:id="R14a19e0267d34097"/>
    <p:sldId xmlns:r="http://schemas.openxmlformats.org/officeDocument/2006/relationships" id="260" r:id="Rc773a6d43d644f02"/>
    <p:sldId xmlns:r="http://schemas.openxmlformats.org/officeDocument/2006/relationships" id="261" r:id="R2256448118fc4a7e"/>
    <p:sldId xmlns:r="http://schemas.openxmlformats.org/officeDocument/2006/relationships" id="262" r:id="R1d18a97675f94f8c"/>
    <p:sldId xmlns:r="http://schemas.openxmlformats.org/officeDocument/2006/relationships" id="263" r:id="R27e0802d6c054992"/>
    <p:sldId xmlns:r="http://schemas.openxmlformats.org/officeDocument/2006/relationships" id="264" r:id="Rd6184a0f833341fc"/>
    <p:sldId xmlns:r="http://schemas.openxmlformats.org/officeDocument/2006/relationships" id="265" r:id="R7c0e226a01484c3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8b47b47d1f400e" /><Relationship Type="http://schemas.openxmlformats.org/officeDocument/2006/relationships/slideMaster" Target="/ppt/slideMasters/slideMaster1.xml" Id="R116d0120c4194889" /><Relationship Type="http://schemas.openxmlformats.org/officeDocument/2006/relationships/notesMaster" Target="/ppt/notesMasters/notesMaster1.xml" Id="Rcc7ed2fc6dad4b0b" /><Relationship Type="http://schemas.openxmlformats.org/officeDocument/2006/relationships/presProps" Target="/ppt/presProps.xml" Id="R948cdf3107644c4e" /><Relationship Type="http://schemas.openxmlformats.org/officeDocument/2006/relationships/tableStyles" Target="/ppt/tableStyles.xml" Id="R05e5cea327e448f0" /><Relationship Type="http://schemas.openxmlformats.org/officeDocument/2006/relationships/slide" Target="/ppt/slides/slide1.xml" Id="Rf523da631bb74574" /><Relationship Type="http://schemas.openxmlformats.org/officeDocument/2006/relationships/slide" Target="/ppt/slides/slide2.xml" Id="R809add4b249e4e37" /><Relationship Type="http://schemas.openxmlformats.org/officeDocument/2006/relationships/slide" Target="/ppt/slides/slide3.xml" Id="R939aa57c4a2540a0" /><Relationship Type="http://schemas.openxmlformats.org/officeDocument/2006/relationships/slide" Target="/ppt/slides/slide4.xml" Id="R14a19e0267d34097" /><Relationship Type="http://schemas.openxmlformats.org/officeDocument/2006/relationships/slide" Target="/ppt/slides/slide5.xml" Id="Rc773a6d43d644f02" /><Relationship Type="http://schemas.openxmlformats.org/officeDocument/2006/relationships/slide" Target="/ppt/slides/slide6.xml" Id="R2256448118fc4a7e" /><Relationship Type="http://schemas.openxmlformats.org/officeDocument/2006/relationships/slide" Target="/ppt/slides/slide7.xml" Id="R1d18a97675f94f8c" /><Relationship Type="http://schemas.openxmlformats.org/officeDocument/2006/relationships/slide" Target="/ppt/slides/slide8.xml" Id="R27e0802d6c054992" /><Relationship Type="http://schemas.openxmlformats.org/officeDocument/2006/relationships/slide" Target="/ppt/slides/slide9.xml" Id="Rd6184a0f833341fc" /><Relationship Type="http://schemas.openxmlformats.org/officeDocument/2006/relationships/slide" Target="/ppt/slides/slide10.xml" Id="R7c0e226a01484c3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57415fa5e2a4d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88e35eab844b54" /><Relationship Type="http://schemas.openxmlformats.org/officeDocument/2006/relationships/notesMaster" Target="/ppt/notesMasters/notesMaster1.xml" Id="R3ce4cb44733547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16a46f0bab47b9" /><Relationship Type="http://schemas.openxmlformats.org/officeDocument/2006/relationships/notesMaster" Target="/ppt/notesMasters/notesMaster1.xml" Id="R2290fa5fbb4046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f075abeaea430a" /><Relationship Type="http://schemas.openxmlformats.org/officeDocument/2006/relationships/notesMaster" Target="/ppt/notesMasters/notesMaster1.xml" Id="R5e6ffdc89f68437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54165b50694f34" /><Relationship Type="http://schemas.openxmlformats.org/officeDocument/2006/relationships/notesMaster" Target="/ppt/notesMasters/notesMaster1.xml" Id="R90c6991d043848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98cf25dbbe4603" /><Relationship Type="http://schemas.openxmlformats.org/officeDocument/2006/relationships/notesMaster" Target="/ppt/notesMasters/notesMaster1.xml" Id="R2ad58779b38d479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768c71ba5f445b" /><Relationship Type="http://schemas.openxmlformats.org/officeDocument/2006/relationships/notesMaster" Target="/ppt/notesMasters/notesMaster1.xml" Id="R73b8417b1e7846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77e07158c649c6" /><Relationship Type="http://schemas.openxmlformats.org/officeDocument/2006/relationships/notesMaster" Target="/ppt/notesMasters/notesMaster1.xml" Id="Rb2b0d3d5c3814b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ffb2f76b56f4239" /><Relationship Type="http://schemas.openxmlformats.org/officeDocument/2006/relationships/notesMaster" Target="/ppt/notesMasters/notesMaster1.xml" Id="R0b047314054e42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929962566d4bc8" /><Relationship Type="http://schemas.openxmlformats.org/officeDocument/2006/relationships/notesMaster" Target="/ppt/notesMasters/notesMaster1.xml" Id="R0b924913e32c4e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35eca1bff44dbb" /><Relationship Type="http://schemas.openxmlformats.org/officeDocument/2006/relationships/notesMaster" Target="/ppt/notesMasters/notesMaster1.xml" Id="R3d35fbdd7b0642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Open with the project thesis.</a:t>
            </a:r>
          </a:p>
          <a:p xmlns:a="http://schemas.openxmlformats.org/drawingml/2006/main">
            <a:r>
              <a:t/>
            </a:r>
          </a:p>
          <a:p xmlns:a="http://schemas.openxmlformats.org/drawingml/2006/main">
            <a:r>
              <a:t>What to say: This project is AURA Forge. It is not a FitGPT feature demo. FitGPT is the real codebase I used to test an agentic engineering system that decides how much autonomy a change deserves.</a:t>
            </a:r>
          </a:p>
          <a:p xmlns:a="http://schemas.openxmlformats.org/drawingml/2006/main">
            <a:r>
              <a:t/>
            </a:r>
          </a:p>
          <a:p xmlns:a="http://schemas.openxmlformats.org/drawingml/2006/main">
            <a:r>
              <a:t>What to point at: Point to the thesis box on the right.</a:t>
            </a:r>
          </a:p>
          <a:p xmlns:a="http://schemas.openxmlformats.org/drawingml/2006/main">
            <a:r>
              <a:t/>
            </a:r>
          </a:p>
          <a:p xmlns:a="http://schemas.openxmlformats.org/drawingml/2006/main">
            <a:r>
              <a:t>Transition: Next, explain why the old fixed route was the problem.</a:t>
            </a:r>
          </a:p>
          <a:p xmlns:a="http://schemas.openxmlformats.org/drawingml/2006/main">
            <a:r>
              <a:t/>
            </a:r>
          </a:p>
          <a:p xmlns:a="http://schemas.openxmlformats.org/drawingml/2006/main">
            <a:r>
              <a:t>[Sources]</a:t>
            </a:r>
          </a:p>
          <a:p xmlns:a="http://schemas.openxmlformats.org/drawingml/2006/main">
            <a:r>
              <a:t>- docs/capstone/stakeholder-one-pager.md</a:t>
            </a:r>
          </a:p>
          <a:p xmlns:a="http://schemas.openxmlformats.org/drawingml/2006/main">
            <a:r>
              <a:t>- docs/capstone/final-rubric-audit.md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Show why fixed autonomy is wrong.</a:t>
            </a:r>
          </a:p>
          <a:p xmlns:a="http://schemas.openxmlformats.org/drawingml/2006/main">
            <a:r>
              <a:t/>
            </a:r>
          </a:p>
          <a:p xmlns:a="http://schemas.openxmlformats.org/drawingml/2006/main">
            <a:r>
              <a:t>What to say: Before AURA, representative changes went through the same full path: Planner, human approval, Implementer, Reviewer, Tester, another human approval, and Project Manager. That was defensible for high risk, but too heavy for low risk.</a:t>
            </a:r>
          </a:p>
          <a:p xmlns:a="http://schemas.openxmlformats.org/drawingml/2006/main">
            <a:r>
              <a:t/>
            </a:r>
          </a:p>
          <a:p xmlns:a="http://schemas.openxmlformats.org/drawingml/2006/main">
            <a:r>
              <a:t>What to point at: Point across the fixed route, then contrast LOW and HIGH.</a:t>
            </a:r>
          </a:p>
          <a:p xmlns:a="http://schemas.openxmlformats.org/drawingml/2006/main">
            <a:r>
              <a:t/>
            </a:r>
          </a:p>
          <a:p xmlns:a="http://schemas.openxmlformats.org/drawingml/2006/main">
            <a:r>
              <a:t>Transition: Now show how AURA makes the route deterministic and risk-based.</a:t>
            </a:r>
          </a:p>
          <a:p xmlns:a="http://schemas.openxmlformats.org/drawingml/2006/main">
            <a:r>
              <a:t/>
            </a:r>
          </a:p>
          <a:p xmlns:a="http://schemas.openxmlformats.org/drawingml/2006/main">
            <a:r>
              <a:t>[Sources]</a:t>
            </a:r>
          </a:p>
          <a:p xmlns:a="http://schemas.openxmlformats.org/drawingml/2006/main">
            <a:r>
              <a:t>- docs/capstone/control-baseline-comparison.md</a:t>
            </a:r>
          </a:p>
          <a:p xmlns:a="http://schemas.openxmlformats.org/drawingml/2006/main">
            <a:r>
              <a:t>- docs/routing-and-tool-grant-map.md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Explain the architecture clearly.</a:t>
            </a:r>
          </a:p>
          <a:p xmlns:a="http://schemas.openxmlformats.org/drawingml/2006/main">
            <a:r>
              <a:t/>
            </a:r>
          </a:p>
          <a:p xmlns:a="http://schemas.openxmlformats.org/drawingml/2006/main">
            <a:r>
              <a:t>What to say: AURA separates risk classification from execution. The classifier is deterministic and model-free. The router uses that result to choose roles, tools, gates, and approvals.</a:t>
            </a:r>
          </a:p>
          <a:p xmlns:a="http://schemas.openxmlformats.org/drawingml/2006/main">
            <a:r>
              <a:t/>
            </a:r>
          </a:p>
          <a:p xmlns:a="http://schemas.openxmlformats.org/drawingml/2006/main">
            <a:r>
              <a:t>What to point at: Point from Change through Change Passport.</a:t>
            </a:r>
          </a:p>
          <a:p xmlns:a="http://schemas.openxmlformats.org/drawingml/2006/main">
            <a:r>
              <a:t/>
            </a:r>
          </a:p>
          <a:p xmlns:a="http://schemas.openxmlformats.org/drawingml/2006/main">
            <a:r>
              <a:t>Transition: Next, compare the three actual routes.</a:t>
            </a:r>
          </a:p>
          <a:p xmlns:a="http://schemas.openxmlformats.org/drawingml/2006/main">
            <a:r>
              <a:t/>
            </a:r>
          </a:p>
          <a:p xmlns:a="http://schemas.openxmlformats.org/drawingml/2006/main">
            <a:r>
              <a:t>[Sources]</a:t>
            </a:r>
          </a:p>
          <a:p xmlns:a="http://schemas.openxmlformats.org/drawingml/2006/main">
            <a:r>
              <a:t>- docs/capstone/final-architecture.md</a:t>
            </a:r>
          </a:p>
          <a:p xmlns:a="http://schemas.openxmlformats.org/drawingml/2006/main">
            <a:r>
              <a:t>- docs/capstone/risk-classifier.md</a:t>
            </a:r>
          </a:p>
          <a:p xmlns:a="http://schemas.openxmlformats.org/drawingml/2006/main">
            <a:r>
              <a:t>- docs/capstone/adaptive-routing.md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Make adaptive autonomy concrete.</a:t>
            </a:r>
          </a:p>
          <a:p xmlns:a="http://schemas.openxmlformats.org/drawingml/2006/main">
            <a:r>
              <a:t/>
            </a:r>
          </a:p>
          <a:p xmlns:a="http://schemas.openxmlformats.org/drawingml/2006/main">
            <a:r>
              <a:t>What to say: LOW kept an implementer, an independent reviewer, and deterministic gates. MEDIUM kept implementer, reviewer, tester, and one final approval. HIGH kept the full governed route.</a:t>
            </a:r>
          </a:p>
          <a:p xmlns:a="http://schemas.openxmlformats.org/drawingml/2006/main">
            <a:r>
              <a:t/>
            </a:r>
          </a:p>
          <a:p xmlns:a="http://schemas.openxmlformats.org/drawingml/2006/main">
            <a:r>
              <a:t>What to point at: Point to each route row, especially the HIGH row.</a:t>
            </a:r>
          </a:p>
          <a:p xmlns:a="http://schemas.openxmlformats.org/drawingml/2006/main">
            <a:r>
              <a:t/>
            </a:r>
          </a:p>
          <a:p xmlns:a="http://schemas.openxmlformats.org/drawingml/2006/main">
            <a:r>
              <a:t>Transition: Next, explain how the evidence was measured.</a:t>
            </a:r>
          </a:p>
          <a:p xmlns:a="http://schemas.openxmlformats.org/drawingml/2006/main">
            <a:r>
              <a:t/>
            </a:r>
          </a:p>
          <a:p xmlns:a="http://schemas.openxmlformats.org/drawingml/2006/main">
            <a:r>
              <a:t>[Sources]</a:t>
            </a:r>
          </a:p>
          <a:p xmlns:a="http://schemas.openxmlformats.org/drawingml/2006/main">
            <a:r>
              <a:t>- docs/capstone/adaptive-routing.md</a:t>
            </a:r>
          </a:p>
          <a:p xmlns:a="http://schemas.openxmlformats.org/drawingml/2006/main">
            <a:r>
              <a:t>- docs/capstone/aura-results.md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Establish credibility of the experiment.</a:t>
            </a:r>
          </a:p>
          <a:p xmlns:a="http://schemas.openxmlformats.org/drawingml/2006/main">
            <a:r>
              <a:t/>
            </a:r>
          </a:p>
          <a:p xmlns:a="http://schemas.openxmlformats.org/drawingml/2006/main">
            <a:r>
              <a:t>What to say: I used three representative scenarios: a LOW documentation change, a MEDIUM executable/test change, and a HIGH governance-sensitive change. I measured the fixed control route first, froze the router, then measured AURA.</a:t>
            </a:r>
          </a:p>
          <a:p xmlns:a="http://schemas.openxmlformats.org/drawingml/2006/main">
            <a:r>
              <a:t/>
            </a:r>
          </a:p>
          <a:p xmlns:a="http://schemas.openxmlformats.org/drawingml/2006/main">
            <a:r>
              <a:t>What to point at: Point to the three scenario boxes and the matched-rules line.</a:t>
            </a:r>
          </a:p>
          <a:p xmlns:a="http://schemas.openxmlformats.org/drawingml/2006/main">
            <a:r>
              <a:t/>
            </a:r>
          </a:p>
          <a:p xmlns:a="http://schemas.openxmlformats.org/drawingml/2006/main">
            <a:r>
              <a:t>Transition: Now show the measured results.</a:t>
            </a:r>
          </a:p>
          <a:p xmlns:a="http://schemas.openxmlformats.org/drawingml/2006/main">
            <a:r>
              <a:t/>
            </a:r>
          </a:p>
          <a:p xmlns:a="http://schemas.openxmlformats.org/drawingml/2006/main">
            <a:r>
              <a:t>[Sources]</a:t>
            </a:r>
          </a:p>
          <a:p xmlns:a="http://schemas.openxmlformats.org/drawingml/2006/main">
            <a:r>
              <a:t>- docs/capstone/representative-scenarios.md</a:t>
            </a:r>
          </a:p>
          <a:p xmlns:a="http://schemas.openxmlformats.org/drawingml/2006/main">
            <a:r>
              <a:t>- docs/capstone/quality-rubric.md</a:t>
            </a:r>
          </a:p>
          <a:p xmlns:a="http://schemas.openxmlformats.org/drawingml/2006/main">
            <a:r>
              <a:t>- docs/capstone/control-vs-aura-impact.md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Present the measured result without overclaiming.</a:t>
            </a:r>
          </a:p>
          <a:p xmlns:a="http://schemas.openxmlformats.org/drawingml/2006/main">
            <a:r>
              <a:t/>
            </a:r>
          </a:p>
          <a:p xmlns:a="http://schemas.openxmlformats.org/drawingml/2006/main">
            <a:r>
              <a:t>What to say: Across the three representative scenarios, AURA improved quality from 44 out of 48 to 48 out of 48. Successful-route cost dropped 19.22 percent, model roles dropped 33.33 percent, and human checkpoints dropped 50 percent.</a:t>
            </a:r>
          </a:p>
          <a:p xmlns:a="http://schemas.openxmlformats.org/drawingml/2006/main">
            <a:r>
              <a:t/>
            </a:r>
          </a:p>
          <a:p xmlns:a="http://schemas.openxmlformats.org/drawingml/2006/main">
            <a:r>
              <a:t>What to point at: Point at LOW first because it shows the largest reduction, then call out HIGH retaining governance.</a:t>
            </a:r>
          </a:p>
          <a:p xmlns:a="http://schemas.openxmlformats.org/drawingml/2006/main">
            <a:r>
              <a:t/>
            </a:r>
          </a:p>
          <a:p xmlns:a="http://schemas.openxmlformats.org/drawingml/2006/main">
            <a:r>
              <a:t>Transition: Next, show that governance was not only documented; it stopped overreach.</a:t>
            </a:r>
          </a:p>
          <a:p xmlns:a="http://schemas.openxmlformats.org/drawingml/2006/main">
            <a:r>
              <a:t/>
            </a:r>
          </a:p>
          <a:p xmlns:a="http://schemas.openxmlformats.org/drawingml/2006/main">
            <a:r>
              <a:t>[Sources]</a:t>
            </a:r>
          </a:p>
          <a:p xmlns:a="http://schemas.openxmlformats.org/drawingml/2006/main">
            <a:r>
              <a:t>- docs/capstone/control-vs-aura-impact.md</a:t>
            </a:r>
          </a:p>
          <a:p xmlns:a="http://schemas.openxmlformats.org/drawingml/2006/main">
            <a:r>
              <a:t>- docs/capstone/aura-results.md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Make the safety story visible.</a:t>
            </a:r>
          </a:p>
          <a:p xmlns:a="http://schemas.openxmlformats.org/drawingml/2006/main">
            <a:r>
              <a:t/>
            </a:r>
          </a:p>
          <a:p xmlns:a="http://schemas.openxmlformats.org/drawingml/2006/main">
            <a:r>
              <a:t>What to say: This is the most important demo moment. An implementer attempted to use the Project-Manager-only task tracker. The real governed authorization layer denied it. No external state changed, and the model cost was zero.</a:t>
            </a:r>
          </a:p>
          <a:p xmlns:a="http://schemas.openxmlformats.org/drawingml/2006/main">
            <a:r>
              <a:t/>
            </a:r>
          </a:p>
          <a:p xmlns:a="http://schemas.openxmlformats.org/drawingml/2006/main">
            <a:r>
              <a:t>What to point at: Point to DENIED, then read the sanitized denial sentence.</a:t>
            </a:r>
          </a:p>
          <a:p xmlns:a="http://schemas.openxmlformats.org/drawingml/2006/main">
            <a:r>
              <a:t/>
            </a:r>
          </a:p>
          <a:p xmlns:a="http://schemas.openxmlformats.org/drawingml/2006/main">
            <a:r>
              <a:t>Transition: Next, connect this local governance boundary to CI gates.</a:t>
            </a:r>
          </a:p>
          <a:p xmlns:a="http://schemas.openxmlformats.org/drawingml/2006/main">
            <a:r>
              <a:t/>
            </a:r>
          </a:p>
          <a:p xmlns:a="http://schemas.openxmlformats.org/drawingml/2006/main">
            <a:r>
              <a:t>[Sources]</a:t>
            </a:r>
          </a:p>
          <a:p xmlns:a="http://schemas.openxmlformats.org/drawingml/2006/main">
            <a:r>
              <a:t>- docs/capstone/governance-overreach-demo.md</a:t>
            </a:r>
          </a:p>
          <a:p xmlns:a="http://schemas.openxmlformats.org/drawingml/2006/main">
            <a:r>
              <a:t>- docs/capstone/governance-ci-local-verification.md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Show that the project is eval-gated.</a:t>
            </a:r>
          </a:p>
          <a:p xmlns:a="http://schemas.openxmlformats.org/drawingml/2006/main">
            <a:r>
              <a:t/>
            </a:r>
          </a:p>
          <a:p xmlns:a="http://schemas.openxmlformats.org/drawingml/2006/main">
            <a:r>
              <a:t>What to say: The repository did not stop at local files. The final branch passed GitHub Actions. The advisory review also behaved safely: when the AI secret was unavailable, it skipped gracefully instead of failing open.</a:t>
            </a:r>
          </a:p>
          <a:p xmlns:a="http://schemas.openxmlformats.org/drawingml/2006/main">
            <a:r>
              <a:t/>
            </a:r>
          </a:p>
          <a:p xmlns:a="http://schemas.openxmlformats.org/drawingml/2006/main">
            <a:r>
              <a:t>What to point at: Point to final run 31517900793 and the green job list.</a:t>
            </a:r>
          </a:p>
          <a:p xmlns:a="http://schemas.openxmlformats.org/drawingml/2006/main">
            <a:r>
              <a:t/>
            </a:r>
          </a:p>
          <a:p xmlns:a="http://schemas.openxmlformats.org/drawingml/2006/main">
            <a:r>
              <a:t>Transition: Next, show how all of this evidence is packaged.</a:t>
            </a:r>
          </a:p>
          <a:p xmlns:a="http://schemas.openxmlformats.org/drawingml/2006/main">
            <a:r>
              <a:t/>
            </a:r>
          </a:p>
          <a:p xmlns:a="http://schemas.openxmlformats.org/drawingml/2006/main">
            <a:r>
              <a:t>[Sources]</a:t>
            </a:r>
          </a:p>
          <a:p xmlns:a="http://schemas.openxmlformats.org/drawingml/2006/main">
            <a:r>
              <a:t>- docs/capstone/governance-ci-results.md</a:t>
            </a:r>
          </a:p>
          <a:p xmlns:a="http://schemas.openxmlformats.org/drawingml/2006/main">
            <a:r>
              <a:t>- docs/capstone/final-evidence-snapshot.md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Explain the Change Passport and right-tool lesson.</a:t>
            </a:r>
          </a:p>
          <a:p xmlns:a="http://schemas.openxmlformats.org/drawingml/2006/main">
            <a:r>
              <a:t/>
            </a:r>
          </a:p>
          <a:p xmlns:a="http://schemas.openxmlformats.org/drawingml/2006/main">
            <a:r>
              <a:t>What to say: The Change Passport pulls together risk tier, route, roles, tests, approvals, policy, CI, and readiness. I also found that some work should not be agentic at all. A narrow config/docs check became deterministic code with zero model cost.</a:t>
            </a:r>
          </a:p>
          <a:p xmlns:a="http://schemas.openxmlformats.org/drawingml/2006/main">
            <a:r>
              <a:t/>
            </a:r>
          </a:p>
          <a:p xmlns:a="http://schemas.openxmlformats.org/drawingml/2006/main">
            <a:r>
              <a:t>What to point at: Point to the Passport fields, then the evidence-flow asset.</a:t>
            </a:r>
          </a:p>
          <a:p xmlns:a="http://schemas.openxmlformats.org/drawingml/2006/main">
            <a:r>
              <a:t/>
            </a:r>
          </a:p>
          <a:p xmlns:a="http://schemas.openxmlformats.org/drawingml/2006/main">
            <a:r>
              <a:t>Transition: Close by stating the bounded impact and remaining human tasks.</a:t>
            </a:r>
          </a:p>
          <a:p xmlns:a="http://schemas.openxmlformats.org/drawingml/2006/main">
            <a:r>
              <a:t/>
            </a:r>
          </a:p>
          <a:p xmlns:a="http://schemas.openxmlformats.org/drawingml/2006/main">
            <a:r>
              <a:t>[Sources]</a:t>
            </a:r>
          </a:p>
          <a:p xmlns:a="http://schemas.openxmlformats.org/drawingml/2006/main">
            <a:r>
              <a:t>- docs/capstone/change-passport.md</a:t>
            </a:r>
          </a:p>
          <a:p xmlns:a="http://schemas.openxmlformats.org/drawingml/2006/main">
            <a:r>
              <a:t>- docs/capstone/evidence/change-passport-AF-HIGH-001.json</a:t>
            </a:r>
          </a:p>
          <a:p xmlns:a="http://schemas.openxmlformats.org/drawingml/2006/main">
            <a:r>
              <a:t>- docs/capstone/deterministic-conversion.md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Goal: Close with the honest takeaway.</a:t>
            </a:r>
          </a:p>
          <a:p xmlns:a="http://schemas.openxmlformats.org/drawingml/2006/main">
            <a:r>
              <a:t/>
            </a:r>
          </a:p>
          <a:p xmlns:a="http://schemas.openxmlformats.org/drawingml/2006/main">
            <a:r>
              <a:t>What to say: The measured evidence supports the thesis, but only for these three representative scenarios. The important result is not just lower cost. It is matching autonomy to risk and proving the system stayed governed.</a:t>
            </a:r>
          </a:p>
          <a:p xmlns:a="http://schemas.openxmlformats.org/drawingml/2006/main">
            <a:r>
              <a:t/>
            </a:r>
          </a:p>
          <a:p xmlns:a="http://schemas.openxmlformats.org/drawingml/2006/main">
            <a:r>
              <a:t>What to point at: Point to measured impact, limitations, and final takeaway.</a:t>
            </a:r>
          </a:p>
          <a:p xmlns:a="http://schemas.openxmlformats.org/drawingml/2006/main">
            <a:r>
              <a:t/>
            </a:r>
          </a:p>
          <a:p xmlns:a="http://schemas.openxmlformats.org/drawingml/2006/main">
            <a:r>
              <a:t>Transition: End the recording and move to submission links/checklist.</a:t>
            </a:r>
          </a:p>
          <a:p xmlns:a="http://schemas.openxmlformats.org/drawingml/2006/main">
            <a:r>
              <a:t/>
            </a:r>
          </a:p>
          <a:p xmlns:a="http://schemas.openxmlformats.org/drawingml/2006/main">
            <a:r>
              <a:t>[Sources]</a:t>
            </a:r>
          </a:p>
          <a:p xmlns:a="http://schemas.openxmlformats.org/drawingml/2006/main">
            <a:r>
              <a:t>- docs/capstone/control-vs-aura-impact.md</a:t>
            </a:r>
          </a:p>
          <a:p xmlns:a="http://schemas.openxmlformats.org/drawingml/2006/main">
            <a:r>
              <a:t>- docs/capstone/final-rubric-audit.md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040c3fa8c248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a46aaa207f4563" /><Relationship Type="http://schemas.openxmlformats.org/officeDocument/2006/relationships/slideLayout" Target="/ppt/slideLayouts/slideLayout1.xml" Id="Rdb7af6c91573467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7af6c91573467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64b1b309aa4386" /><Relationship Type="http://schemas.openxmlformats.org/officeDocument/2006/relationships/notesSlide" Target="/ppt/notesSlides/notesSlide1.xml" Id="R9b90b2d8138f460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638f8a28b9f4a6c" /><Relationship Type="http://schemas.openxmlformats.org/officeDocument/2006/relationships/notesSlide" Target="/ppt/notesSlides/notesSlide2.xml" Id="Rfe821972dd4545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ef00345dc6a4cfe" /><Relationship Type="http://schemas.openxmlformats.org/officeDocument/2006/relationships/image" Target="/ppt/media/image.png" Id="R62523c364d4e4c18" /><Relationship Type="http://schemas.openxmlformats.org/officeDocument/2006/relationships/notesSlide" Target="/ppt/notesSlides/notesSlide3.xml" Id="Raedf7ecdc9f647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e356ac7647d4953" /><Relationship Type="http://schemas.openxmlformats.org/officeDocument/2006/relationships/image" Target="/ppt/media/image2.png" Id="Ref129e69d87245d7" /><Relationship Type="http://schemas.openxmlformats.org/officeDocument/2006/relationships/notesSlide" Target="/ppt/notesSlides/notesSlide4.xml" Id="R28ecc22eed7f44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84d17ccda254b62" /><Relationship Type="http://schemas.openxmlformats.org/officeDocument/2006/relationships/notesSlide" Target="/ppt/notesSlides/notesSlide5.xml" Id="R0ca1554e430940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e803cdefb51420d" /><Relationship Type="http://schemas.openxmlformats.org/officeDocument/2006/relationships/image" Target="/ppt/media/image3.png" Id="Rf4d168ea479a4f2f" /><Relationship Type="http://schemas.openxmlformats.org/officeDocument/2006/relationships/image" Target="/ppt/media/image4.png" Id="R9118f3b2f20542d9" /><Relationship Type="http://schemas.openxmlformats.org/officeDocument/2006/relationships/image" Target="/ppt/media/image5.png" Id="Rda58d2802712436d" /><Relationship Type="http://schemas.openxmlformats.org/officeDocument/2006/relationships/notesSlide" Target="/ppt/notesSlides/notesSlide6.xml" Id="R8a4befddb16c487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72866f18cbb42dd" /><Relationship Type="http://schemas.openxmlformats.org/officeDocument/2006/relationships/image" Target="/ppt/media/image6.png" Id="Rb91243cbdc8a4267" /><Relationship Type="http://schemas.openxmlformats.org/officeDocument/2006/relationships/notesSlide" Target="/ppt/notesSlides/notesSlide7.xml" Id="R44c6ec826091402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d751cceffc8490a" /><Relationship Type="http://schemas.openxmlformats.org/officeDocument/2006/relationships/image" Target="/ppt/media/image7.png" Id="R33514bd77e654a68" /><Relationship Type="http://schemas.openxmlformats.org/officeDocument/2006/relationships/notesSlide" Target="/ppt/notesSlides/notesSlide8.xml" Id="R55ee43cdb41f42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6d23e49cb214f1b" /><Relationship Type="http://schemas.openxmlformats.org/officeDocument/2006/relationships/image" Target="/ppt/media/image8.png" Id="R9bdc2e2d240946d8" /><Relationship Type="http://schemas.openxmlformats.org/officeDocument/2006/relationships/image" Target="/ppt/media/image9.png" Id="R4cfa23d434224dc6" /><Relationship Type="http://schemas.openxmlformats.org/officeDocument/2006/relationships/notesSlide" Target="/ppt/notesSlides/notesSlide9.xml" Id="R486558b1ecf147a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fff0a6596ca4329" /><Relationship Type="http://schemas.openxmlformats.org/officeDocument/2006/relationships/notesSlide" Target="/ppt/notesSlides/notesSlide10.xml" Id="R48056b82848144e2" /></Relationships>
</file>

<file path=ppt/slides/slide1.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320A89-93F3-41D7-B318-43E8A2E516FF}"/>
              </a:ext>
            </a:extLst>
          </p:cNvPr>
          <p:cNvSpPr>
            <a:spLocks xmlns:a="http://schemas.openxmlformats.org/drawingml/2006/main" noGrp="1"/>
          </p:cNvSpPr>
          <p:nvPr/>
        </p:nvSpPr>
        <p:spPr>
          <a:xfrm xmlns:a="http://schemas.openxmlformats.org/drawingml/2006/main">
            <a:off x="723900" y="1238250"/>
            <a:ext cx="7239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800" b="1">
                <a:solidFill>
                  <a:srgbClr val="F4F8FB"/>
                </a:solidFill>
              </a:defRPr>
            </a:pPr>
            <a:r>
              <a:rPr sz="4800" b="1">
                <a:solidFill>
                  <a:srgbClr val="F4F8FB"/>
                </a:solidFill>
              </a:rPr>
              <a:t>AURA Forge</a:t>
            </a:r>
          </a:p>
        </p:txBody>
      </p:sp>
      <p:sp>
        <p:nvSpPr>
          <p:cNvPr id="2" name="">
            <a:extLst xmlns:a="http://schemas.openxmlformats.org/drawingml/2006/main">
              <a:ext uri="{FF2B5EF4-FFF2-40B4-BE49-F238E27FC236}">
                <a16:creationId xmlns:a16="http://schemas.microsoft.com/office/drawing/2014/main" id="{491BCB77-A209-428B-8209-4D009F408CDE}"/>
              </a:ext>
            </a:extLst>
          </p:cNvPr>
          <p:cNvSpPr>
            <a:spLocks xmlns:a="http://schemas.openxmlformats.org/drawingml/2006/main" noGrp="1"/>
          </p:cNvSpPr>
          <p:nvPr/>
        </p:nvSpPr>
        <p:spPr>
          <a:xfrm xmlns:a="http://schemas.openxmlformats.org/drawingml/2006/main">
            <a:off x="762000" y="2143125"/>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4CC9F0"/>
                </a:solidFill>
              </a:defRPr>
            </a:pPr>
            <a:r>
              <a:rPr sz="2250" b="1">
                <a:solidFill>
                  <a:srgbClr val="4CC9F0"/>
                </a:solidFill>
              </a:rPr>
              <a:t>Governed Adaptive Engineering for FitGPT</a:t>
            </a:r>
          </a:p>
        </p:txBody>
      </p:sp>
      <p:sp>
        <p:nvSpPr>
          <p:cNvPr id="3" name="">
            <a:extLst xmlns:a="http://schemas.openxmlformats.org/drawingml/2006/main">
              <a:ext uri="{FF2B5EF4-FFF2-40B4-BE49-F238E27FC236}">
                <a16:creationId xmlns:a16="http://schemas.microsoft.com/office/drawing/2014/main" id="{B4D16D1A-74D6-4DF3-B4A4-01C7806CFF9D}"/>
              </a:ext>
            </a:extLst>
          </p:cNvPr>
          <p:cNvSpPr>
            <a:spLocks xmlns:a="http://schemas.openxmlformats.org/drawingml/2006/main" noGrp="1"/>
          </p:cNvSpPr>
          <p:nvPr/>
        </p:nvSpPr>
        <p:spPr>
          <a:xfrm xmlns:a="http://schemas.openxmlformats.org/drawingml/2006/main">
            <a:off x="781050" y="2905125"/>
            <a:ext cx="6286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0">
                <a:solidFill>
                  <a:srgbClr val="A9BACB"/>
                </a:solidFill>
              </a:defRPr>
            </a:pPr>
            <a:r>
              <a:rPr sz="1875" b="0">
                <a:solidFill>
                  <a:srgbClr val="A9BACB"/>
                </a:solidFill>
              </a:rPr>
              <a:t>LaunchCode Agentic Engineering Capstone</a:t>
            </a:r>
          </a:p>
          <a:p xmlns:a="http://schemas.openxmlformats.org/drawingml/2006/main">
            <a:pPr>
              <a:defRPr sz="1875" b="0">
                <a:solidFill>
                  <a:srgbClr val="A9BACB"/>
                </a:solidFill>
              </a:defRPr>
            </a:pPr>
            <a:r>
              <a:rPr sz="1875" b="0">
                <a:solidFill>
                  <a:srgbClr val="A9BACB"/>
                </a:solidFill>
              </a:rPr>
              <a:t>Muhammad Imran</a:t>
            </a:r>
          </a:p>
        </p:txBody>
      </p:sp>
      <p:sp>
        <p:nvSpPr>
          <p:cNvPr id="4" name="">
            <a:extLst xmlns:a="http://schemas.openxmlformats.org/drawingml/2006/main">
              <a:ext uri="{FF2B5EF4-FFF2-40B4-BE49-F238E27FC236}">
                <a16:creationId xmlns:a16="http://schemas.microsoft.com/office/drawing/2014/main" id="{3BCFA988-A857-4F58-804E-17704ECAFAFC}"/>
              </a:ext>
            </a:extLst>
          </p:cNvPr>
          <p:cNvSpPr>
            <a:spLocks xmlns:a="http://schemas.openxmlformats.org/drawingml/2006/main" noGrp="1"/>
          </p:cNvSpPr>
          <p:nvPr/>
        </p:nvSpPr>
        <p:spPr>
          <a:xfrm xmlns:a="http://schemas.openxmlformats.org/drawingml/2006/main">
            <a:off x="7905750" y="1381125"/>
            <a:ext cx="3143250" cy="3143250"/>
          </a:xfrm>
          <a:prstGeom xmlns:a="http://schemas.openxmlformats.org/drawingml/2006/main" prst="roundRect">
            <a:avLst>
              <a:gd name="adj" fmla="val 2424"/>
            </a:avLst>
          </a:prstGeom>
          <a:solidFill xmlns:a="http://schemas.openxmlformats.org/drawingml/2006/main">
            <a:srgbClr val="17314D"/>
          </a:solidFill>
          <a:ln xmlns:a="http://schemas.openxmlformats.org/drawingml/2006/main" w="11430">
            <a:solidFill>
              <a:srgbClr val="2A4663"/>
            </a:solidFill>
            <a:prstDash val="solid"/>
          </a:ln>
        </p:spPr>
      </p:sp>
      <p:sp>
        <p:nvSpPr>
          <p:cNvPr id="5" name="">
            <a:extLst xmlns:a="http://schemas.openxmlformats.org/drawingml/2006/main">
              <a:ext uri="{FF2B5EF4-FFF2-40B4-BE49-F238E27FC236}">
                <a16:creationId xmlns:a16="http://schemas.microsoft.com/office/drawing/2014/main" id="{917BF462-EDCC-4C96-83D5-5E785281D9C6}"/>
              </a:ext>
            </a:extLst>
          </p:cNvPr>
          <p:cNvSpPr>
            <a:spLocks xmlns:a="http://schemas.openxmlformats.org/drawingml/2006/main" noGrp="1"/>
          </p:cNvSpPr>
          <p:nvPr/>
        </p:nvSpPr>
        <p:spPr>
          <a:xfrm xmlns:a="http://schemas.openxmlformats.org/drawingml/2006/main">
            <a:off x="8267700" y="2190750"/>
            <a:ext cx="24003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F4F8FB"/>
                </a:solidFill>
              </a:defRPr>
            </a:pPr>
            <a:r>
              <a:rPr sz="2400" b="1">
                <a:solidFill>
                  <a:srgbClr val="F4F8FB"/>
                </a:solidFill>
              </a:rPr>
              <a:t>Give each software change only the autonomy it deserves.</a:t>
            </a:r>
          </a:p>
        </p:txBody>
      </p:sp>
    </p:spTree>
    <p:extLst>
      <p:ext uri="{BB962C8B-B14F-4D97-AF65-F5344CB8AC3E}">
        <p14:creationId xmlns:p14="http://schemas.microsoft.com/office/powerpoint/2010/main" val="1272741740"/>
      </p:ext>
    </p:extLst>
  </p:cSld>
</p:sld>
</file>

<file path=ppt/slides/slide2.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28" name="slide-title">
            <a:extLst xmlns:a="http://schemas.openxmlformats.org/drawingml/2006/main">
              <a:ext uri="{FF2B5EF4-FFF2-40B4-BE49-F238E27FC236}">
                <a16:creationId xmlns:a16="http://schemas.microsoft.com/office/drawing/2014/main" id="{FF8A8D51-4B46-44AF-983A-D0E0B19E0577}"/>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Fixed autonomy made simple changes too expensive</a:t>
            </a:r>
          </a:p>
        </p:txBody>
      </p:sp>
      <p:sp>
        <p:nvSpPr>
          <p:cNvPr id="2" name="slide-subtitle">
            <a:extLst xmlns:a="http://schemas.openxmlformats.org/drawingml/2006/main">
              <a:ext uri="{FF2B5EF4-FFF2-40B4-BE49-F238E27FC236}">
                <a16:creationId xmlns:a16="http://schemas.microsoft.com/office/drawing/2014/main" id="{E41433C2-5816-4152-9B3D-9F45EF762161}"/>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The same route was being applied to changes with very different risk.</a:t>
            </a:r>
          </a:p>
        </p:txBody>
      </p:sp>
      <p:sp>
        <p:nvSpPr>
          <p:cNvPr id="3" name="slide-number">
            <a:extLst xmlns:a="http://schemas.openxmlformats.org/drawingml/2006/main">
              <a:ext uri="{FF2B5EF4-FFF2-40B4-BE49-F238E27FC236}">
                <a16:creationId xmlns:a16="http://schemas.microsoft.com/office/drawing/2014/main" id="{61612258-0F96-4112-AED3-F66E0FDFE6A7}"/>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02</a:t>
            </a:r>
          </a:p>
        </p:txBody>
      </p:sp>
      <p:sp>
        <p:nvSpPr>
          <p:cNvPr id="4" name="">
            <a:extLst xmlns:a="http://schemas.openxmlformats.org/drawingml/2006/main">
              <a:ext uri="{FF2B5EF4-FFF2-40B4-BE49-F238E27FC236}">
                <a16:creationId xmlns:a16="http://schemas.microsoft.com/office/drawing/2014/main" id="{F0442728-7DB7-44F3-A534-6115EF021002}"/>
              </a:ext>
            </a:extLst>
          </p:cNvPr>
          <p:cNvSpPr>
            <a:spLocks xmlns:a="http://schemas.openxmlformats.org/drawingml/2006/main" noGrp="1"/>
          </p:cNvSpPr>
          <p:nvPr/>
        </p:nvSpPr>
        <p:spPr>
          <a:xfrm xmlns:a="http://schemas.openxmlformats.org/drawingml/2006/main">
            <a:off x="838200" y="2047875"/>
            <a:ext cx="1162050" cy="742950"/>
          </a:xfrm>
          <a:prstGeom xmlns:a="http://schemas.openxmlformats.org/drawingml/2006/main" prst="roundRect">
            <a:avLst>
              <a:gd name="adj" fmla="val 10256"/>
            </a:avLst>
          </a:prstGeom>
          <a:solidFill xmlns:a="http://schemas.openxmlformats.org/drawingml/2006/main">
            <a:srgbClr val="17314D"/>
          </a:solidFill>
          <a:ln xmlns:a="http://schemas.openxmlformats.org/drawingml/2006/main" w="11430">
            <a:solidFill>
              <a:srgbClr val="2A4663"/>
            </a:solidFill>
            <a:prstDash val="solid"/>
          </a:ln>
        </p:spPr>
      </p:sp>
      <p:sp>
        <p:nvSpPr>
          <p:cNvPr id="5" name="">
            <a:extLst xmlns:a="http://schemas.openxmlformats.org/drawingml/2006/main">
              <a:ext uri="{FF2B5EF4-FFF2-40B4-BE49-F238E27FC236}">
                <a16:creationId xmlns:a16="http://schemas.microsoft.com/office/drawing/2014/main" id="{68D0F40F-E365-45D7-AC10-88C8B92AF26A}"/>
              </a:ext>
            </a:extLst>
          </p:cNvPr>
          <p:cNvSpPr>
            <a:spLocks xmlns:a="http://schemas.openxmlformats.org/drawingml/2006/main" noGrp="1"/>
          </p:cNvSpPr>
          <p:nvPr/>
        </p:nvSpPr>
        <p:spPr>
          <a:xfrm xmlns:a="http://schemas.openxmlformats.org/drawingml/2006/main">
            <a:off x="962025" y="2276475"/>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F4F8FB"/>
                </a:solidFill>
              </a:defRPr>
            </a:pPr>
            <a:r>
              <a:rPr sz="1500" b="1">
                <a:solidFill>
                  <a:srgbClr val="F4F8FB"/>
                </a:solidFill>
              </a:rPr>
              <a:t>Planner</a:t>
            </a:r>
          </a:p>
        </p:txBody>
      </p:sp>
      <p:sp>
        <p:nvSpPr>
          <p:cNvPr id="6" name="">
            <a:extLst xmlns:a="http://schemas.openxmlformats.org/drawingml/2006/main">
              <a:ext uri="{FF2B5EF4-FFF2-40B4-BE49-F238E27FC236}">
                <a16:creationId xmlns:a16="http://schemas.microsoft.com/office/drawing/2014/main" id="{2CC0EF4E-2BDD-4984-9B11-A731C94903C3}"/>
              </a:ext>
            </a:extLst>
          </p:cNvPr>
          <p:cNvSpPr>
            <a:spLocks xmlns:a="http://schemas.openxmlformats.org/drawingml/2006/main" noGrp="1"/>
          </p:cNvSpPr>
          <p:nvPr/>
        </p:nvSpPr>
        <p:spPr>
          <a:xfrm xmlns:a="http://schemas.openxmlformats.org/drawingml/2006/main">
            <a:off x="2076450" y="2276475"/>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4CC9F0"/>
                </a:solidFill>
              </a:defRPr>
            </a:pPr>
            <a:r>
              <a:rPr sz="1800" b="1">
                <a:solidFill>
                  <a:srgbClr val="4CC9F0"/>
                </a:solidFill>
              </a:rPr>
              <a:t>-&gt;</a:t>
            </a:r>
          </a:p>
        </p:txBody>
      </p:sp>
      <p:sp>
        <p:nvSpPr>
          <p:cNvPr id="7" name="">
            <a:extLst xmlns:a="http://schemas.openxmlformats.org/drawingml/2006/main">
              <a:ext uri="{FF2B5EF4-FFF2-40B4-BE49-F238E27FC236}">
                <a16:creationId xmlns:a16="http://schemas.microsoft.com/office/drawing/2014/main" id="{66B7E6BF-5B7B-4C06-B6CF-FC1BD2195503}"/>
              </a:ext>
            </a:extLst>
          </p:cNvPr>
          <p:cNvSpPr>
            <a:spLocks xmlns:a="http://schemas.openxmlformats.org/drawingml/2006/main" noGrp="1"/>
          </p:cNvSpPr>
          <p:nvPr/>
        </p:nvSpPr>
        <p:spPr>
          <a:xfrm xmlns:a="http://schemas.openxmlformats.org/drawingml/2006/main">
            <a:off x="2343150" y="2047875"/>
            <a:ext cx="1162050" cy="742950"/>
          </a:xfrm>
          <a:prstGeom xmlns:a="http://schemas.openxmlformats.org/drawingml/2006/main" prst="roundRect">
            <a:avLst>
              <a:gd name="adj" fmla="val 10256"/>
            </a:avLst>
          </a:prstGeom>
          <a:solidFill xmlns:a="http://schemas.openxmlformats.org/drawingml/2006/main">
            <a:srgbClr val="3D2F16"/>
          </a:solidFill>
          <a:ln xmlns:a="http://schemas.openxmlformats.org/drawingml/2006/main" w="11430">
            <a:solidFill>
              <a:srgbClr val="F6C85F"/>
            </a:solidFill>
            <a:prstDash val="solid"/>
          </a:ln>
        </p:spPr>
      </p:sp>
      <p:sp>
        <p:nvSpPr>
          <p:cNvPr id="8" name="">
            <a:extLst xmlns:a="http://schemas.openxmlformats.org/drawingml/2006/main">
              <a:ext uri="{FF2B5EF4-FFF2-40B4-BE49-F238E27FC236}">
                <a16:creationId xmlns:a16="http://schemas.microsoft.com/office/drawing/2014/main" id="{9796E641-BCF3-4EAD-B365-4B5DA9EA291F}"/>
              </a:ext>
            </a:extLst>
          </p:cNvPr>
          <p:cNvSpPr>
            <a:spLocks xmlns:a="http://schemas.openxmlformats.org/drawingml/2006/main" noGrp="1"/>
          </p:cNvSpPr>
          <p:nvPr/>
        </p:nvSpPr>
        <p:spPr>
          <a:xfrm xmlns:a="http://schemas.openxmlformats.org/drawingml/2006/main">
            <a:off x="2466975" y="2276475"/>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F4F8FB"/>
                </a:solidFill>
              </a:defRPr>
            </a:pPr>
            <a:r>
              <a:rPr sz="1500" b="1">
                <a:solidFill>
                  <a:srgbClr val="F4F8FB"/>
                </a:solidFill>
              </a:rPr>
              <a:t>Human</a:t>
            </a:r>
          </a:p>
        </p:txBody>
      </p:sp>
      <p:sp>
        <p:nvSpPr>
          <p:cNvPr id="9" name="">
            <a:extLst xmlns:a="http://schemas.openxmlformats.org/drawingml/2006/main">
              <a:ext uri="{FF2B5EF4-FFF2-40B4-BE49-F238E27FC236}">
                <a16:creationId xmlns:a16="http://schemas.microsoft.com/office/drawing/2014/main" id="{16B1EE65-7002-4600-8F59-2824BA78E006}"/>
              </a:ext>
            </a:extLst>
          </p:cNvPr>
          <p:cNvSpPr>
            <a:spLocks xmlns:a="http://schemas.openxmlformats.org/drawingml/2006/main" noGrp="1"/>
          </p:cNvSpPr>
          <p:nvPr/>
        </p:nvSpPr>
        <p:spPr>
          <a:xfrm xmlns:a="http://schemas.openxmlformats.org/drawingml/2006/main">
            <a:off x="3581400" y="2276475"/>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4CC9F0"/>
                </a:solidFill>
              </a:defRPr>
            </a:pPr>
            <a:r>
              <a:rPr sz="1800" b="1">
                <a:solidFill>
                  <a:srgbClr val="4CC9F0"/>
                </a:solidFill>
              </a:rPr>
              <a:t>-&gt;</a:t>
            </a:r>
          </a:p>
        </p:txBody>
      </p:sp>
      <p:sp>
        <p:nvSpPr>
          <p:cNvPr id="10" name="">
            <a:extLst xmlns:a="http://schemas.openxmlformats.org/drawingml/2006/main">
              <a:ext uri="{FF2B5EF4-FFF2-40B4-BE49-F238E27FC236}">
                <a16:creationId xmlns:a16="http://schemas.microsoft.com/office/drawing/2014/main" id="{3B95733C-5F3C-4D1F-BF9A-E1217913548E}"/>
              </a:ext>
            </a:extLst>
          </p:cNvPr>
          <p:cNvSpPr>
            <a:spLocks xmlns:a="http://schemas.openxmlformats.org/drawingml/2006/main" noGrp="1"/>
          </p:cNvSpPr>
          <p:nvPr/>
        </p:nvSpPr>
        <p:spPr>
          <a:xfrm xmlns:a="http://schemas.openxmlformats.org/drawingml/2006/main">
            <a:off x="3848100" y="2047875"/>
            <a:ext cx="1162050" cy="742950"/>
          </a:xfrm>
          <a:prstGeom xmlns:a="http://schemas.openxmlformats.org/drawingml/2006/main" prst="roundRect">
            <a:avLst>
              <a:gd name="adj" fmla="val 10256"/>
            </a:avLst>
          </a:prstGeom>
          <a:solidFill xmlns:a="http://schemas.openxmlformats.org/drawingml/2006/main">
            <a:srgbClr val="17314D"/>
          </a:solidFill>
          <a:ln xmlns:a="http://schemas.openxmlformats.org/drawingml/2006/main" w="11430">
            <a:solidFill>
              <a:srgbClr val="2A4663"/>
            </a:solidFill>
            <a:prstDash val="solid"/>
          </a:ln>
        </p:spPr>
      </p:sp>
      <p:sp>
        <p:nvSpPr>
          <p:cNvPr id="11" name="">
            <a:extLst xmlns:a="http://schemas.openxmlformats.org/drawingml/2006/main">
              <a:ext uri="{FF2B5EF4-FFF2-40B4-BE49-F238E27FC236}">
                <a16:creationId xmlns:a16="http://schemas.microsoft.com/office/drawing/2014/main" id="{9BEC10AA-6614-441E-BDA8-1F3CE96B22E9}"/>
              </a:ext>
            </a:extLst>
          </p:cNvPr>
          <p:cNvSpPr>
            <a:spLocks xmlns:a="http://schemas.openxmlformats.org/drawingml/2006/main" noGrp="1"/>
          </p:cNvSpPr>
          <p:nvPr/>
        </p:nvSpPr>
        <p:spPr>
          <a:xfrm xmlns:a="http://schemas.openxmlformats.org/drawingml/2006/main">
            <a:off x="3971925" y="2276475"/>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F4F8FB"/>
                </a:solidFill>
              </a:defRPr>
            </a:pPr>
            <a:r>
              <a:rPr sz="1500" b="1">
                <a:solidFill>
                  <a:srgbClr val="F4F8FB"/>
                </a:solidFill>
              </a:rPr>
              <a:t>Implementer</a:t>
            </a:r>
          </a:p>
        </p:txBody>
      </p:sp>
      <p:sp>
        <p:nvSpPr>
          <p:cNvPr id="12" name="">
            <a:extLst xmlns:a="http://schemas.openxmlformats.org/drawingml/2006/main">
              <a:ext uri="{FF2B5EF4-FFF2-40B4-BE49-F238E27FC236}">
                <a16:creationId xmlns:a16="http://schemas.microsoft.com/office/drawing/2014/main" id="{63D5C590-FC06-4D7F-99AE-86286804C0C4}"/>
              </a:ext>
            </a:extLst>
          </p:cNvPr>
          <p:cNvSpPr>
            <a:spLocks xmlns:a="http://schemas.openxmlformats.org/drawingml/2006/main" noGrp="1"/>
          </p:cNvSpPr>
          <p:nvPr/>
        </p:nvSpPr>
        <p:spPr>
          <a:xfrm xmlns:a="http://schemas.openxmlformats.org/drawingml/2006/main">
            <a:off x="5086350" y="2276475"/>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4CC9F0"/>
                </a:solidFill>
              </a:defRPr>
            </a:pPr>
            <a:r>
              <a:rPr sz="1800" b="1">
                <a:solidFill>
                  <a:srgbClr val="4CC9F0"/>
                </a:solidFill>
              </a:rPr>
              <a:t>-&gt;</a:t>
            </a:r>
          </a:p>
        </p:txBody>
      </p:sp>
      <p:sp>
        <p:nvSpPr>
          <p:cNvPr id="13" name="">
            <a:extLst xmlns:a="http://schemas.openxmlformats.org/drawingml/2006/main">
              <a:ext uri="{FF2B5EF4-FFF2-40B4-BE49-F238E27FC236}">
                <a16:creationId xmlns:a16="http://schemas.microsoft.com/office/drawing/2014/main" id="{3FB61B4E-030B-4FD0-870C-3597E445DCFB}"/>
              </a:ext>
            </a:extLst>
          </p:cNvPr>
          <p:cNvSpPr>
            <a:spLocks xmlns:a="http://schemas.openxmlformats.org/drawingml/2006/main" noGrp="1"/>
          </p:cNvSpPr>
          <p:nvPr/>
        </p:nvSpPr>
        <p:spPr>
          <a:xfrm xmlns:a="http://schemas.openxmlformats.org/drawingml/2006/main">
            <a:off x="5353050" y="2047875"/>
            <a:ext cx="1162050" cy="742950"/>
          </a:xfrm>
          <a:prstGeom xmlns:a="http://schemas.openxmlformats.org/drawingml/2006/main" prst="roundRect">
            <a:avLst>
              <a:gd name="adj" fmla="val 10256"/>
            </a:avLst>
          </a:prstGeom>
          <a:solidFill xmlns:a="http://schemas.openxmlformats.org/drawingml/2006/main">
            <a:srgbClr val="17314D"/>
          </a:solidFill>
          <a:ln xmlns:a="http://schemas.openxmlformats.org/drawingml/2006/main" w="11430">
            <a:solidFill>
              <a:srgbClr val="2A4663"/>
            </a:solidFill>
            <a:prstDash val="solid"/>
          </a:ln>
        </p:spPr>
      </p:sp>
      <p:sp>
        <p:nvSpPr>
          <p:cNvPr id="14" name="">
            <a:extLst xmlns:a="http://schemas.openxmlformats.org/drawingml/2006/main">
              <a:ext uri="{FF2B5EF4-FFF2-40B4-BE49-F238E27FC236}">
                <a16:creationId xmlns:a16="http://schemas.microsoft.com/office/drawing/2014/main" id="{F8755D83-7972-4DB5-83A7-710E26264CB6}"/>
              </a:ext>
            </a:extLst>
          </p:cNvPr>
          <p:cNvSpPr>
            <a:spLocks xmlns:a="http://schemas.openxmlformats.org/drawingml/2006/main" noGrp="1"/>
          </p:cNvSpPr>
          <p:nvPr/>
        </p:nvSpPr>
        <p:spPr>
          <a:xfrm xmlns:a="http://schemas.openxmlformats.org/drawingml/2006/main">
            <a:off x="5476875" y="2276475"/>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F4F8FB"/>
                </a:solidFill>
              </a:defRPr>
            </a:pPr>
            <a:r>
              <a:rPr sz="1500" b="1">
                <a:solidFill>
                  <a:srgbClr val="F4F8FB"/>
                </a:solidFill>
              </a:rPr>
              <a:t>Reviewer</a:t>
            </a:r>
          </a:p>
        </p:txBody>
      </p:sp>
      <p:sp>
        <p:nvSpPr>
          <p:cNvPr id="15" name="">
            <a:extLst xmlns:a="http://schemas.openxmlformats.org/drawingml/2006/main">
              <a:ext uri="{FF2B5EF4-FFF2-40B4-BE49-F238E27FC236}">
                <a16:creationId xmlns:a16="http://schemas.microsoft.com/office/drawing/2014/main" id="{F4846D22-831D-47B0-9168-F7DA0B4467D0}"/>
              </a:ext>
            </a:extLst>
          </p:cNvPr>
          <p:cNvSpPr>
            <a:spLocks xmlns:a="http://schemas.openxmlformats.org/drawingml/2006/main" noGrp="1"/>
          </p:cNvSpPr>
          <p:nvPr/>
        </p:nvSpPr>
        <p:spPr>
          <a:xfrm xmlns:a="http://schemas.openxmlformats.org/drawingml/2006/main">
            <a:off x="6591300" y="2276475"/>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4CC9F0"/>
                </a:solidFill>
              </a:defRPr>
            </a:pPr>
            <a:r>
              <a:rPr sz="1800" b="1">
                <a:solidFill>
                  <a:srgbClr val="4CC9F0"/>
                </a:solidFill>
              </a:rPr>
              <a:t>-&gt;</a:t>
            </a:r>
          </a:p>
        </p:txBody>
      </p:sp>
      <p:sp>
        <p:nvSpPr>
          <p:cNvPr id="16" name="">
            <a:extLst xmlns:a="http://schemas.openxmlformats.org/drawingml/2006/main">
              <a:ext uri="{FF2B5EF4-FFF2-40B4-BE49-F238E27FC236}">
                <a16:creationId xmlns:a16="http://schemas.microsoft.com/office/drawing/2014/main" id="{B5DBFE4C-E84C-4D4A-9DB6-AC878854DA95}"/>
              </a:ext>
            </a:extLst>
          </p:cNvPr>
          <p:cNvSpPr>
            <a:spLocks xmlns:a="http://schemas.openxmlformats.org/drawingml/2006/main" noGrp="1"/>
          </p:cNvSpPr>
          <p:nvPr/>
        </p:nvSpPr>
        <p:spPr>
          <a:xfrm xmlns:a="http://schemas.openxmlformats.org/drawingml/2006/main">
            <a:off x="6858000" y="2047875"/>
            <a:ext cx="1162050" cy="742950"/>
          </a:xfrm>
          <a:prstGeom xmlns:a="http://schemas.openxmlformats.org/drawingml/2006/main" prst="roundRect">
            <a:avLst>
              <a:gd name="adj" fmla="val 10256"/>
            </a:avLst>
          </a:prstGeom>
          <a:solidFill xmlns:a="http://schemas.openxmlformats.org/drawingml/2006/main">
            <a:srgbClr val="17314D"/>
          </a:solidFill>
          <a:ln xmlns:a="http://schemas.openxmlformats.org/drawingml/2006/main" w="11430">
            <a:solidFill>
              <a:srgbClr val="2A4663"/>
            </a:solidFill>
            <a:prstDash val="solid"/>
          </a:ln>
        </p:spPr>
      </p:sp>
      <p:sp>
        <p:nvSpPr>
          <p:cNvPr id="17" name="">
            <a:extLst xmlns:a="http://schemas.openxmlformats.org/drawingml/2006/main">
              <a:ext uri="{FF2B5EF4-FFF2-40B4-BE49-F238E27FC236}">
                <a16:creationId xmlns:a16="http://schemas.microsoft.com/office/drawing/2014/main" id="{F5F22E91-F17D-400A-84F3-91A6618D492B}"/>
              </a:ext>
            </a:extLst>
          </p:cNvPr>
          <p:cNvSpPr>
            <a:spLocks xmlns:a="http://schemas.openxmlformats.org/drawingml/2006/main" noGrp="1"/>
          </p:cNvSpPr>
          <p:nvPr/>
        </p:nvSpPr>
        <p:spPr>
          <a:xfrm xmlns:a="http://schemas.openxmlformats.org/drawingml/2006/main">
            <a:off x="6981825" y="2276475"/>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F4F8FB"/>
                </a:solidFill>
              </a:defRPr>
            </a:pPr>
            <a:r>
              <a:rPr sz="1500" b="1">
                <a:solidFill>
                  <a:srgbClr val="F4F8FB"/>
                </a:solidFill>
              </a:rPr>
              <a:t>Tester</a:t>
            </a:r>
          </a:p>
        </p:txBody>
      </p:sp>
      <p:sp>
        <p:nvSpPr>
          <p:cNvPr id="18" name="">
            <a:extLst xmlns:a="http://schemas.openxmlformats.org/drawingml/2006/main">
              <a:ext uri="{FF2B5EF4-FFF2-40B4-BE49-F238E27FC236}">
                <a16:creationId xmlns:a16="http://schemas.microsoft.com/office/drawing/2014/main" id="{0DB81FEF-D7EB-4150-AF3F-486A51F7E338}"/>
              </a:ext>
            </a:extLst>
          </p:cNvPr>
          <p:cNvSpPr>
            <a:spLocks xmlns:a="http://schemas.openxmlformats.org/drawingml/2006/main" noGrp="1"/>
          </p:cNvSpPr>
          <p:nvPr/>
        </p:nvSpPr>
        <p:spPr>
          <a:xfrm xmlns:a="http://schemas.openxmlformats.org/drawingml/2006/main">
            <a:off x="8096250" y="2276475"/>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4CC9F0"/>
                </a:solidFill>
              </a:defRPr>
            </a:pPr>
            <a:r>
              <a:rPr sz="1800" b="1">
                <a:solidFill>
                  <a:srgbClr val="4CC9F0"/>
                </a:solidFill>
              </a:rPr>
              <a:t>-&gt;</a:t>
            </a:r>
          </a:p>
        </p:txBody>
      </p:sp>
      <p:sp>
        <p:nvSpPr>
          <p:cNvPr id="19" name="">
            <a:extLst xmlns:a="http://schemas.openxmlformats.org/drawingml/2006/main">
              <a:ext uri="{FF2B5EF4-FFF2-40B4-BE49-F238E27FC236}">
                <a16:creationId xmlns:a16="http://schemas.microsoft.com/office/drawing/2014/main" id="{B492CFB2-407C-4872-92BE-05DE586D5944}"/>
              </a:ext>
            </a:extLst>
          </p:cNvPr>
          <p:cNvSpPr>
            <a:spLocks xmlns:a="http://schemas.openxmlformats.org/drawingml/2006/main" noGrp="1"/>
          </p:cNvSpPr>
          <p:nvPr/>
        </p:nvSpPr>
        <p:spPr>
          <a:xfrm xmlns:a="http://schemas.openxmlformats.org/drawingml/2006/main">
            <a:off x="8362950" y="2047875"/>
            <a:ext cx="1162050" cy="742950"/>
          </a:xfrm>
          <a:prstGeom xmlns:a="http://schemas.openxmlformats.org/drawingml/2006/main" prst="roundRect">
            <a:avLst>
              <a:gd name="adj" fmla="val 10256"/>
            </a:avLst>
          </a:prstGeom>
          <a:solidFill xmlns:a="http://schemas.openxmlformats.org/drawingml/2006/main">
            <a:srgbClr val="3D2F16"/>
          </a:solidFill>
          <a:ln xmlns:a="http://schemas.openxmlformats.org/drawingml/2006/main" w="11430">
            <a:solidFill>
              <a:srgbClr val="F6C85F"/>
            </a:solidFill>
            <a:prstDash val="solid"/>
          </a:ln>
        </p:spPr>
      </p:sp>
      <p:sp>
        <p:nvSpPr>
          <p:cNvPr id="20" name="">
            <a:extLst xmlns:a="http://schemas.openxmlformats.org/drawingml/2006/main">
              <a:ext uri="{FF2B5EF4-FFF2-40B4-BE49-F238E27FC236}">
                <a16:creationId xmlns:a16="http://schemas.microsoft.com/office/drawing/2014/main" id="{3A0E87C4-473C-4D95-A827-36569A4AC8D8}"/>
              </a:ext>
            </a:extLst>
          </p:cNvPr>
          <p:cNvSpPr>
            <a:spLocks xmlns:a="http://schemas.openxmlformats.org/drawingml/2006/main" noGrp="1"/>
          </p:cNvSpPr>
          <p:nvPr/>
        </p:nvSpPr>
        <p:spPr>
          <a:xfrm xmlns:a="http://schemas.openxmlformats.org/drawingml/2006/main">
            <a:off x="8486775" y="2276475"/>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F4F8FB"/>
                </a:solidFill>
              </a:defRPr>
            </a:pPr>
            <a:r>
              <a:rPr sz="1500" b="1">
                <a:solidFill>
                  <a:srgbClr val="F4F8FB"/>
                </a:solidFill>
              </a:rPr>
              <a:t>Human</a:t>
            </a:r>
          </a:p>
        </p:txBody>
      </p:sp>
      <p:sp>
        <p:nvSpPr>
          <p:cNvPr id="21" name="">
            <a:extLst xmlns:a="http://schemas.openxmlformats.org/drawingml/2006/main">
              <a:ext uri="{FF2B5EF4-FFF2-40B4-BE49-F238E27FC236}">
                <a16:creationId xmlns:a16="http://schemas.microsoft.com/office/drawing/2014/main" id="{1D61EBBB-2E0A-4A92-B7BB-0C824AC9990D}"/>
              </a:ext>
            </a:extLst>
          </p:cNvPr>
          <p:cNvSpPr>
            <a:spLocks xmlns:a="http://schemas.openxmlformats.org/drawingml/2006/main" noGrp="1"/>
          </p:cNvSpPr>
          <p:nvPr/>
        </p:nvSpPr>
        <p:spPr>
          <a:xfrm xmlns:a="http://schemas.openxmlformats.org/drawingml/2006/main">
            <a:off x="9601200" y="2276475"/>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4CC9F0"/>
                </a:solidFill>
              </a:defRPr>
            </a:pPr>
            <a:r>
              <a:rPr sz="1800" b="1">
                <a:solidFill>
                  <a:srgbClr val="4CC9F0"/>
                </a:solidFill>
              </a:rPr>
              <a:t>-&gt;</a:t>
            </a:r>
          </a:p>
        </p:txBody>
      </p:sp>
      <p:sp>
        <p:nvSpPr>
          <p:cNvPr id="22" name="">
            <a:extLst xmlns:a="http://schemas.openxmlformats.org/drawingml/2006/main">
              <a:ext uri="{FF2B5EF4-FFF2-40B4-BE49-F238E27FC236}">
                <a16:creationId xmlns:a16="http://schemas.microsoft.com/office/drawing/2014/main" id="{CA11117B-CC68-4CAA-BC96-EBD939CD5AC8}"/>
              </a:ext>
            </a:extLst>
          </p:cNvPr>
          <p:cNvSpPr>
            <a:spLocks xmlns:a="http://schemas.openxmlformats.org/drawingml/2006/main" noGrp="1"/>
          </p:cNvSpPr>
          <p:nvPr/>
        </p:nvSpPr>
        <p:spPr>
          <a:xfrm xmlns:a="http://schemas.openxmlformats.org/drawingml/2006/main">
            <a:off x="9867900" y="2047875"/>
            <a:ext cx="1162050" cy="742950"/>
          </a:xfrm>
          <a:prstGeom xmlns:a="http://schemas.openxmlformats.org/drawingml/2006/main" prst="roundRect">
            <a:avLst>
              <a:gd name="adj" fmla="val 10256"/>
            </a:avLst>
          </a:prstGeom>
          <a:solidFill xmlns:a="http://schemas.openxmlformats.org/drawingml/2006/main">
            <a:srgbClr val="17314D"/>
          </a:solidFill>
          <a:ln xmlns:a="http://schemas.openxmlformats.org/drawingml/2006/main" w="11430">
            <a:solidFill>
              <a:srgbClr val="2A4663"/>
            </a:solidFill>
            <a:prstDash val="solid"/>
          </a:ln>
        </p:spPr>
      </p:sp>
      <p:sp>
        <p:nvSpPr>
          <p:cNvPr id="23" name="">
            <a:extLst xmlns:a="http://schemas.openxmlformats.org/drawingml/2006/main">
              <a:ext uri="{FF2B5EF4-FFF2-40B4-BE49-F238E27FC236}">
                <a16:creationId xmlns:a16="http://schemas.microsoft.com/office/drawing/2014/main" id="{6F144C0B-8948-479E-9988-DEE6EB5AA5EB}"/>
              </a:ext>
            </a:extLst>
          </p:cNvPr>
          <p:cNvSpPr>
            <a:spLocks xmlns:a="http://schemas.openxmlformats.org/drawingml/2006/main" noGrp="1"/>
          </p:cNvSpPr>
          <p:nvPr/>
        </p:nvSpPr>
        <p:spPr>
          <a:xfrm xmlns:a="http://schemas.openxmlformats.org/drawingml/2006/main">
            <a:off x="9991725" y="2276475"/>
            <a:ext cx="914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F4F8FB"/>
                </a:solidFill>
              </a:defRPr>
            </a:pPr>
            <a:r>
              <a:rPr sz="1500" b="1">
                <a:solidFill>
                  <a:srgbClr val="F4F8FB"/>
                </a:solidFill>
              </a:rPr>
              <a:t>PM</a:t>
            </a:r>
          </a:p>
        </p:txBody>
      </p:sp>
      <p:sp>
        <p:nvSpPr>
          <p:cNvPr id="24" name="">
            <a:extLst xmlns:a="http://schemas.openxmlformats.org/drawingml/2006/main">
              <a:ext uri="{FF2B5EF4-FFF2-40B4-BE49-F238E27FC236}">
                <a16:creationId xmlns:a16="http://schemas.microsoft.com/office/drawing/2014/main" id="{45E2C53E-B7CC-4C8A-8C94-790C64993063}"/>
              </a:ext>
            </a:extLst>
          </p:cNvPr>
          <p:cNvSpPr>
            <a:spLocks xmlns:a="http://schemas.openxmlformats.org/drawingml/2006/main" noGrp="1"/>
          </p:cNvSpPr>
          <p:nvPr/>
        </p:nvSpPr>
        <p:spPr>
          <a:xfrm xmlns:a="http://schemas.openxmlformats.org/drawingml/2006/main">
            <a:off x="1619250" y="4000500"/>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7BD88F"/>
                </a:solidFill>
              </a:defRPr>
            </a:pPr>
            <a:r>
              <a:rPr sz="2100" b="1">
                <a:solidFill>
                  <a:srgbClr val="7BD88F"/>
                </a:solidFill>
              </a:rPr>
              <a:t>LOW</a:t>
            </a:r>
          </a:p>
        </p:txBody>
      </p:sp>
      <p:sp>
        <p:nvSpPr>
          <p:cNvPr id="25" name="">
            <a:extLst xmlns:a="http://schemas.openxmlformats.org/drawingml/2006/main">
              <a:ext uri="{FF2B5EF4-FFF2-40B4-BE49-F238E27FC236}">
                <a16:creationId xmlns:a16="http://schemas.microsoft.com/office/drawing/2014/main" id="{6A09E850-38E3-4384-87FC-93FB651543EC}"/>
              </a:ext>
            </a:extLst>
          </p:cNvPr>
          <p:cNvSpPr>
            <a:spLocks xmlns:a="http://schemas.openxmlformats.org/drawingml/2006/main" noGrp="1"/>
          </p:cNvSpPr>
          <p:nvPr/>
        </p:nvSpPr>
        <p:spPr>
          <a:xfrm xmlns:a="http://schemas.openxmlformats.org/drawingml/2006/main">
            <a:off x="1619250" y="440055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F4F8FB"/>
                </a:solidFill>
              </a:defRPr>
            </a:pPr>
            <a:r>
              <a:rPr sz="1800" b="0">
                <a:solidFill>
                  <a:srgbClr val="F4F8FB"/>
                </a:solidFill>
              </a:rPr>
              <a:t>Full route wasted time and cost on a documentation-only change.</a:t>
            </a:r>
          </a:p>
        </p:txBody>
      </p:sp>
      <p:sp>
        <p:nvSpPr>
          <p:cNvPr id="26" name="">
            <a:extLst xmlns:a="http://schemas.openxmlformats.org/drawingml/2006/main">
              <a:ext uri="{FF2B5EF4-FFF2-40B4-BE49-F238E27FC236}">
                <a16:creationId xmlns:a16="http://schemas.microsoft.com/office/drawing/2014/main" id="{1F76D37E-8D8C-4B16-97BD-91C009CF2A41}"/>
              </a:ext>
            </a:extLst>
          </p:cNvPr>
          <p:cNvSpPr>
            <a:spLocks xmlns:a="http://schemas.openxmlformats.org/drawingml/2006/main" noGrp="1"/>
          </p:cNvSpPr>
          <p:nvPr/>
        </p:nvSpPr>
        <p:spPr>
          <a:xfrm xmlns:a="http://schemas.openxmlformats.org/drawingml/2006/main">
            <a:off x="6667500" y="4000500"/>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F6C85F"/>
                </a:solidFill>
              </a:defRPr>
            </a:pPr>
            <a:r>
              <a:rPr sz="2100" b="1">
                <a:solidFill>
                  <a:srgbClr val="F6C85F"/>
                </a:solidFill>
              </a:rPr>
              <a:t>HIGH</a:t>
            </a:r>
          </a:p>
        </p:txBody>
      </p:sp>
      <p:sp>
        <p:nvSpPr>
          <p:cNvPr id="27" name="">
            <a:extLst xmlns:a="http://schemas.openxmlformats.org/drawingml/2006/main">
              <a:ext uri="{FF2B5EF4-FFF2-40B4-BE49-F238E27FC236}">
                <a16:creationId xmlns:a16="http://schemas.microsoft.com/office/drawing/2014/main" id="{D287260F-3B97-4E8A-9A74-3BA844F1DFAC}"/>
              </a:ext>
            </a:extLst>
          </p:cNvPr>
          <p:cNvSpPr>
            <a:spLocks xmlns:a="http://schemas.openxmlformats.org/drawingml/2006/main" noGrp="1"/>
          </p:cNvSpPr>
          <p:nvPr/>
        </p:nvSpPr>
        <p:spPr>
          <a:xfrm xmlns:a="http://schemas.openxmlformats.org/drawingml/2006/main">
            <a:off x="6667500" y="4400550"/>
            <a:ext cx="3810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F4F8FB"/>
                </a:solidFill>
              </a:defRPr>
            </a:pPr>
            <a:r>
              <a:rPr sz="1800" b="0">
                <a:solidFill>
                  <a:srgbClr val="F4F8FB"/>
                </a:solidFill>
              </a:rPr>
              <a:t>Removing governance would have been unsafe for policy-sensitive work.</a:t>
            </a:r>
          </a:p>
        </p:txBody>
      </p:sp>
    </p:spTree>
    <p:extLst>
      <p:ext uri="{BB962C8B-B14F-4D97-AF65-F5344CB8AC3E}">
        <p14:creationId xmlns:p14="http://schemas.microsoft.com/office/powerpoint/2010/main" val="383976842"/>
      </p:ext>
    </p:extLst>
  </p:cSld>
</p:sld>
</file>

<file path=ppt/slides/slide3.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18BD5A04-36D8-4698-A700-DB75F4D8572E}"/>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AURA Forge routes each change by risk</a:t>
            </a:r>
          </a:p>
        </p:txBody>
      </p:sp>
      <p:sp>
        <p:nvSpPr>
          <p:cNvPr id="2" name="slide-subtitle">
            <a:extLst xmlns:a="http://schemas.openxmlformats.org/drawingml/2006/main">
              <a:ext uri="{FF2B5EF4-FFF2-40B4-BE49-F238E27FC236}">
                <a16:creationId xmlns:a16="http://schemas.microsoft.com/office/drawing/2014/main" id="{633F58DA-DFD9-46C0-A19F-D6CA1C69B632}"/>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A deterministic classifier selects risk before any route is chosen.</a:t>
            </a:r>
          </a:p>
        </p:txBody>
      </p:sp>
      <p:sp>
        <p:nvSpPr>
          <p:cNvPr id="3" name="slide-number">
            <a:extLst xmlns:a="http://schemas.openxmlformats.org/drawingml/2006/main">
              <a:ext uri="{FF2B5EF4-FFF2-40B4-BE49-F238E27FC236}">
                <a16:creationId xmlns:a16="http://schemas.microsoft.com/office/drawing/2014/main" id="{2F55FBEC-D328-40C3-B3FD-F8E01422EB2F}"/>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03</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2523c364d4e4c18"/>
          <a:stretch xmlns:a="http://schemas.openxmlformats.org/drawingml/2006/main"/>
        </p:blipFill>
        <p:spPr>
          <a:xfrm xmlns:a="http://schemas.openxmlformats.org/drawingml/2006/main">
            <a:off x="819150" y="1512094"/>
            <a:ext cx="7239000" cy="407193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C1432A4-65A8-4014-871F-E0A124607500}"/>
              </a:ext>
            </a:extLst>
          </p:cNvPr>
          <p:cNvSpPr>
            <a:spLocks xmlns:a="http://schemas.openxmlformats.org/drawingml/2006/main" noGrp="1"/>
          </p:cNvSpPr>
          <p:nvPr/>
        </p:nvSpPr>
        <p:spPr>
          <a:xfrm xmlns:a="http://schemas.openxmlformats.org/drawingml/2006/main">
            <a:off x="8667750" y="171450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4CC9F0"/>
                </a:solidFill>
              </a:defRPr>
            </a:pPr>
            <a:r>
              <a:rPr sz="2100" b="1">
                <a:solidFill>
                  <a:srgbClr val="4CC9F0"/>
                </a:solidFill>
              </a:rPr>
              <a:t>Core idea</a:t>
            </a:r>
          </a:p>
        </p:txBody>
      </p:sp>
      <p:sp>
        <p:nvSpPr>
          <p:cNvPr id="6" name="">
            <a:extLst xmlns:a="http://schemas.openxmlformats.org/drawingml/2006/main">
              <a:ext uri="{FF2B5EF4-FFF2-40B4-BE49-F238E27FC236}">
                <a16:creationId xmlns:a16="http://schemas.microsoft.com/office/drawing/2014/main" id="{36CB39F2-89C2-4734-A787-6E6E84F52AED}"/>
              </a:ext>
            </a:extLst>
          </p:cNvPr>
          <p:cNvSpPr>
            <a:spLocks xmlns:a="http://schemas.openxmlformats.org/drawingml/2006/main" noGrp="1"/>
          </p:cNvSpPr>
          <p:nvPr/>
        </p:nvSpPr>
        <p:spPr>
          <a:xfrm xmlns:a="http://schemas.openxmlformats.org/drawingml/2006/main">
            <a:off x="8667750" y="2171700"/>
            <a:ext cx="2571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0">
                <a:solidFill>
                  <a:srgbClr val="F4F8FB"/>
                </a:solidFill>
              </a:defRPr>
            </a:pPr>
            <a:r>
              <a:rPr sz="1725" b="0">
                <a:solidFill>
                  <a:srgbClr val="F4F8FB"/>
                </a:solidFill>
              </a:rPr>
              <a:t>The classifier does not implement code, grant tools, or call a model. It only determines LOW, MEDIUM, or HIGH. The router then assigns roles, tools, gates, and human checkpoints.</a:t>
            </a:r>
          </a:p>
        </p:txBody>
      </p:sp>
    </p:spTree>
    <p:extLst>
      <p:ext uri="{BB962C8B-B14F-4D97-AF65-F5344CB8AC3E}">
        <p14:creationId xmlns:p14="http://schemas.microsoft.com/office/powerpoint/2010/main" val="896854736"/>
      </p:ext>
    </p:extLst>
  </p:cSld>
</p:sld>
</file>

<file path=ppt/slides/slide4.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CD489152-F0DC-4BA4-8E41-24E87E1F052D}"/>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LOW gets speed; HIGH keeps governance</a:t>
            </a:r>
          </a:p>
        </p:txBody>
      </p:sp>
      <p:sp>
        <p:nvSpPr>
          <p:cNvPr id="2" name="slide-subtitle">
            <a:extLst xmlns:a="http://schemas.openxmlformats.org/drawingml/2006/main">
              <a:ext uri="{FF2B5EF4-FFF2-40B4-BE49-F238E27FC236}">
                <a16:creationId xmlns:a16="http://schemas.microsoft.com/office/drawing/2014/main" id="{090A84B6-C130-447B-947C-620932AB6CE0}"/>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The route is lighter only when the risk is lower.</a:t>
            </a:r>
          </a:p>
        </p:txBody>
      </p:sp>
      <p:sp>
        <p:nvSpPr>
          <p:cNvPr id="3" name="slide-number">
            <a:extLst xmlns:a="http://schemas.openxmlformats.org/drawingml/2006/main">
              <a:ext uri="{FF2B5EF4-FFF2-40B4-BE49-F238E27FC236}">
                <a16:creationId xmlns:a16="http://schemas.microsoft.com/office/drawing/2014/main" id="{3A7FBCB4-F5E9-49D4-9333-3B6687262798}"/>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04</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f129e69d87245d7"/>
          <a:stretch xmlns:a="http://schemas.openxmlformats.org/drawingml/2006/main"/>
        </p:blipFill>
        <p:spPr>
          <a:xfrm xmlns:a="http://schemas.openxmlformats.org/drawingml/2006/main">
            <a:off x="1826683" y="1238250"/>
            <a:ext cx="8043333" cy="45243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73E502C-04AC-40E1-9A9A-C03FEB1EEF45}"/>
              </a:ext>
            </a:extLst>
          </p:cNvPr>
          <p:cNvSpPr>
            <a:spLocks xmlns:a="http://schemas.openxmlformats.org/drawingml/2006/main" noGrp="1"/>
          </p:cNvSpPr>
          <p:nvPr/>
        </p:nvSpPr>
        <p:spPr>
          <a:xfrm xmlns:a="http://schemas.openxmlformats.org/drawingml/2006/main">
            <a:off x="8239125" y="5810250"/>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F6C85F"/>
                </a:solidFill>
              </a:defRPr>
            </a:pPr>
            <a:r>
              <a:rPr sz="1800" b="1">
                <a:solidFill>
                  <a:srgbClr val="F6C85F"/>
                </a:solidFill>
              </a:rPr>
              <a:t>HIGH is not optimized away.</a:t>
            </a:r>
          </a:p>
        </p:txBody>
      </p:sp>
    </p:spTree>
    <p:extLst>
      <p:ext uri="{BB962C8B-B14F-4D97-AF65-F5344CB8AC3E}">
        <p14:creationId xmlns:p14="http://schemas.microsoft.com/office/powerpoint/2010/main" val="1881408934"/>
      </p:ext>
    </p:extLst>
  </p:cSld>
</p:sld>
</file>

<file path=ppt/slides/slide5.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D26F29C5-960F-4888-8553-31B2D9C0DD47}"/>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The experiment compared matched scenarios</a:t>
            </a:r>
          </a:p>
        </p:txBody>
      </p:sp>
      <p:sp>
        <p:nvSpPr>
          <p:cNvPr id="2" name="slide-subtitle">
            <a:extLst xmlns:a="http://schemas.openxmlformats.org/drawingml/2006/main">
              <a:ext uri="{FF2B5EF4-FFF2-40B4-BE49-F238E27FC236}">
                <a16:creationId xmlns:a16="http://schemas.microsoft.com/office/drawing/2014/main" id="{5A6EF4F6-CD7D-4287-BC09-E4D39BB93BEC}"/>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Control first, freeze the router, then measure AURA.</a:t>
            </a:r>
          </a:p>
        </p:txBody>
      </p:sp>
      <p:sp>
        <p:nvSpPr>
          <p:cNvPr id="3" name="slide-number">
            <a:extLst xmlns:a="http://schemas.openxmlformats.org/drawingml/2006/main">
              <a:ext uri="{FF2B5EF4-FFF2-40B4-BE49-F238E27FC236}">
                <a16:creationId xmlns:a16="http://schemas.microsoft.com/office/drawing/2014/main" id="{74EB770C-9553-4D2D-921B-06DFABF7D904}"/>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05</a:t>
            </a:r>
          </a:p>
        </p:txBody>
      </p:sp>
      <p:sp>
        <p:nvSpPr>
          <p:cNvPr id="4" name="">
            <a:extLst xmlns:a="http://schemas.openxmlformats.org/drawingml/2006/main">
              <a:ext uri="{FF2B5EF4-FFF2-40B4-BE49-F238E27FC236}">
                <a16:creationId xmlns:a16="http://schemas.microsoft.com/office/drawing/2014/main" id="{4568C6DF-CDA4-4E15-A831-B8A3B993A118}"/>
              </a:ext>
            </a:extLst>
          </p:cNvPr>
          <p:cNvSpPr>
            <a:spLocks xmlns:a="http://schemas.openxmlformats.org/drawingml/2006/main" noGrp="1"/>
          </p:cNvSpPr>
          <p:nvPr/>
        </p:nvSpPr>
        <p:spPr>
          <a:xfrm xmlns:a="http://schemas.openxmlformats.org/drawingml/2006/main">
            <a:off x="1143000" y="1952625"/>
            <a:ext cx="2857500" cy="1857375"/>
          </a:xfrm>
          <a:prstGeom xmlns:a="http://schemas.openxmlformats.org/drawingml/2006/main" prst="roundRect">
            <a:avLst>
              <a:gd name="adj" fmla="val 4103"/>
            </a:avLst>
          </a:prstGeom>
          <a:solidFill xmlns:a="http://schemas.openxmlformats.org/drawingml/2006/main">
            <a:srgbClr val="17314D"/>
          </a:solidFill>
          <a:ln xmlns:a="http://schemas.openxmlformats.org/drawingml/2006/main" w="11430">
            <a:solidFill>
              <a:srgbClr val="7BD88F"/>
            </a:solidFill>
            <a:prstDash val="solid"/>
          </a:ln>
        </p:spPr>
      </p:sp>
      <p:sp>
        <p:nvSpPr>
          <p:cNvPr id="5" name="">
            <a:extLst xmlns:a="http://schemas.openxmlformats.org/drawingml/2006/main">
              <a:ext uri="{FF2B5EF4-FFF2-40B4-BE49-F238E27FC236}">
                <a16:creationId xmlns:a16="http://schemas.microsoft.com/office/drawing/2014/main" id="{9A09D294-1B34-4413-AB56-37F47C9FA422}"/>
              </a:ext>
            </a:extLst>
          </p:cNvPr>
          <p:cNvSpPr>
            <a:spLocks xmlns:a="http://schemas.openxmlformats.org/drawingml/2006/main" noGrp="1"/>
          </p:cNvSpPr>
          <p:nvPr/>
        </p:nvSpPr>
        <p:spPr>
          <a:xfrm xmlns:a="http://schemas.openxmlformats.org/drawingml/2006/main">
            <a:off x="1409700" y="233362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7BD88F"/>
                </a:solidFill>
              </a:defRPr>
            </a:pPr>
            <a:r>
              <a:rPr sz="2250" b="1">
                <a:solidFill>
                  <a:srgbClr val="7BD88F"/>
                </a:solidFill>
              </a:rPr>
              <a:t>AF-LOW-001</a:t>
            </a:r>
          </a:p>
        </p:txBody>
      </p:sp>
      <p:sp>
        <p:nvSpPr>
          <p:cNvPr id="6" name="">
            <a:extLst xmlns:a="http://schemas.openxmlformats.org/drawingml/2006/main">
              <a:ext uri="{FF2B5EF4-FFF2-40B4-BE49-F238E27FC236}">
                <a16:creationId xmlns:a16="http://schemas.microsoft.com/office/drawing/2014/main" id="{A8650FCA-C1D2-4326-A510-8827BB74662E}"/>
              </a:ext>
            </a:extLst>
          </p:cNvPr>
          <p:cNvSpPr>
            <a:spLocks xmlns:a="http://schemas.openxmlformats.org/drawingml/2006/main" noGrp="1"/>
          </p:cNvSpPr>
          <p:nvPr/>
        </p:nvSpPr>
        <p:spPr>
          <a:xfrm xmlns:a="http://schemas.openxmlformats.org/drawingml/2006/main">
            <a:off x="1409700" y="2905125"/>
            <a:ext cx="2238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F4F8FB"/>
                </a:solidFill>
              </a:defRPr>
            </a:pPr>
            <a:r>
              <a:rPr sz="1800" b="0">
                <a:solidFill>
                  <a:srgbClr val="F4F8FB"/>
                </a:solidFill>
              </a:rPr>
              <a:t>Documentation / accessibility</a:t>
            </a:r>
          </a:p>
        </p:txBody>
      </p:sp>
      <p:sp>
        <p:nvSpPr>
          <p:cNvPr id="7" name="">
            <a:extLst xmlns:a="http://schemas.openxmlformats.org/drawingml/2006/main">
              <a:ext uri="{FF2B5EF4-FFF2-40B4-BE49-F238E27FC236}">
                <a16:creationId xmlns:a16="http://schemas.microsoft.com/office/drawing/2014/main" id="{6FC3DF55-D1EB-4BA5-BFC9-712214E94FC1}"/>
              </a:ext>
            </a:extLst>
          </p:cNvPr>
          <p:cNvSpPr>
            <a:spLocks xmlns:a="http://schemas.openxmlformats.org/drawingml/2006/main" noGrp="1"/>
          </p:cNvSpPr>
          <p:nvPr/>
        </p:nvSpPr>
        <p:spPr>
          <a:xfrm xmlns:a="http://schemas.openxmlformats.org/drawingml/2006/main">
            <a:off x="4619625" y="1952625"/>
            <a:ext cx="2857500" cy="1857375"/>
          </a:xfrm>
          <a:prstGeom xmlns:a="http://schemas.openxmlformats.org/drawingml/2006/main" prst="roundRect">
            <a:avLst>
              <a:gd name="adj" fmla="val 4103"/>
            </a:avLst>
          </a:prstGeom>
          <a:solidFill xmlns:a="http://schemas.openxmlformats.org/drawingml/2006/main">
            <a:srgbClr val="17314D"/>
          </a:solidFill>
          <a:ln xmlns:a="http://schemas.openxmlformats.org/drawingml/2006/main" w="11430">
            <a:solidFill>
              <a:srgbClr val="4CC9F0"/>
            </a:solidFill>
            <a:prstDash val="solid"/>
          </a:ln>
        </p:spPr>
      </p:sp>
      <p:sp>
        <p:nvSpPr>
          <p:cNvPr id="8" name="">
            <a:extLst xmlns:a="http://schemas.openxmlformats.org/drawingml/2006/main">
              <a:ext uri="{FF2B5EF4-FFF2-40B4-BE49-F238E27FC236}">
                <a16:creationId xmlns:a16="http://schemas.microsoft.com/office/drawing/2014/main" id="{930519C8-7F3D-4BF2-9208-190D066F0D0B}"/>
              </a:ext>
            </a:extLst>
          </p:cNvPr>
          <p:cNvSpPr>
            <a:spLocks xmlns:a="http://schemas.openxmlformats.org/drawingml/2006/main" noGrp="1"/>
          </p:cNvSpPr>
          <p:nvPr/>
        </p:nvSpPr>
        <p:spPr>
          <a:xfrm xmlns:a="http://schemas.openxmlformats.org/drawingml/2006/main">
            <a:off x="4886325" y="233362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4CC9F0"/>
                </a:solidFill>
              </a:defRPr>
            </a:pPr>
            <a:r>
              <a:rPr sz="2250" b="1">
                <a:solidFill>
                  <a:srgbClr val="4CC9F0"/>
                </a:solidFill>
              </a:rPr>
              <a:t>AF-MEDIUM-001</a:t>
            </a:r>
          </a:p>
        </p:txBody>
      </p:sp>
      <p:sp>
        <p:nvSpPr>
          <p:cNvPr id="9" name="">
            <a:extLst xmlns:a="http://schemas.openxmlformats.org/drawingml/2006/main">
              <a:ext uri="{FF2B5EF4-FFF2-40B4-BE49-F238E27FC236}">
                <a16:creationId xmlns:a16="http://schemas.microsoft.com/office/drawing/2014/main" id="{CCCDBC51-955D-4310-9C01-35893D3C4760}"/>
              </a:ext>
            </a:extLst>
          </p:cNvPr>
          <p:cNvSpPr>
            <a:spLocks xmlns:a="http://schemas.openxmlformats.org/drawingml/2006/main" noGrp="1"/>
          </p:cNvSpPr>
          <p:nvPr/>
        </p:nvSpPr>
        <p:spPr>
          <a:xfrm xmlns:a="http://schemas.openxmlformats.org/drawingml/2006/main">
            <a:off x="4886325" y="2905125"/>
            <a:ext cx="2238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F4F8FB"/>
                </a:solidFill>
              </a:defRPr>
            </a:pPr>
            <a:r>
              <a:rPr sz="1800" b="0">
                <a:solidFill>
                  <a:srgbClr val="F4F8FB"/>
                </a:solidFill>
              </a:rPr>
              <a:t>Bounded executable test change</a:t>
            </a:r>
          </a:p>
        </p:txBody>
      </p:sp>
      <p:sp>
        <p:nvSpPr>
          <p:cNvPr id="10" name="">
            <a:extLst xmlns:a="http://schemas.openxmlformats.org/drawingml/2006/main">
              <a:ext uri="{FF2B5EF4-FFF2-40B4-BE49-F238E27FC236}">
                <a16:creationId xmlns:a16="http://schemas.microsoft.com/office/drawing/2014/main" id="{5BCC1A32-6A0B-4AC7-B803-518C5B59ABC6}"/>
              </a:ext>
            </a:extLst>
          </p:cNvPr>
          <p:cNvSpPr>
            <a:spLocks xmlns:a="http://schemas.openxmlformats.org/drawingml/2006/main" noGrp="1"/>
          </p:cNvSpPr>
          <p:nvPr/>
        </p:nvSpPr>
        <p:spPr>
          <a:xfrm xmlns:a="http://schemas.openxmlformats.org/drawingml/2006/main">
            <a:off x="8096250" y="1952625"/>
            <a:ext cx="2857500" cy="1857375"/>
          </a:xfrm>
          <a:prstGeom xmlns:a="http://schemas.openxmlformats.org/drawingml/2006/main" prst="roundRect">
            <a:avLst>
              <a:gd name="adj" fmla="val 4103"/>
            </a:avLst>
          </a:prstGeom>
          <a:solidFill xmlns:a="http://schemas.openxmlformats.org/drawingml/2006/main">
            <a:srgbClr val="17314D"/>
          </a:solidFill>
          <a:ln xmlns:a="http://schemas.openxmlformats.org/drawingml/2006/main" w="11430">
            <a:solidFill>
              <a:srgbClr val="F6C85F"/>
            </a:solidFill>
            <a:prstDash val="solid"/>
          </a:ln>
        </p:spPr>
      </p:sp>
      <p:sp>
        <p:nvSpPr>
          <p:cNvPr id="11" name="">
            <a:extLst xmlns:a="http://schemas.openxmlformats.org/drawingml/2006/main">
              <a:ext uri="{FF2B5EF4-FFF2-40B4-BE49-F238E27FC236}">
                <a16:creationId xmlns:a16="http://schemas.microsoft.com/office/drawing/2014/main" id="{A9DAFC61-7355-4D61-9053-8ACF0E809B92}"/>
              </a:ext>
            </a:extLst>
          </p:cNvPr>
          <p:cNvSpPr>
            <a:spLocks xmlns:a="http://schemas.openxmlformats.org/drawingml/2006/main" noGrp="1"/>
          </p:cNvSpPr>
          <p:nvPr/>
        </p:nvSpPr>
        <p:spPr>
          <a:xfrm xmlns:a="http://schemas.openxmlformats.org/drawingml/2006/main">
            <a:off x="8362950" y="233362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F6C85F"/>
                </a:solidFill>
              </a:defRPr>
            </a:pPr>
            <a:r>
              <a:rPr sz="2250" b="1">
                <a:solidFill>
                  <a:srgbClr val="F6C85F"/>
                </a:solidFill>
              </a:rPr>
              <a:t>AF-HIGH-001</a:t>
            </a:r>
          </a:p>
        </p:txBody>
      </p:sp>
      <p:sp>
        <p:nvSpPr>
          <p:cNvPr id="12" name="">
            <a:extLst xmlns:a="http://schemas.openxmlformats.org/drawingml/2006/main">
              <a:ext uri="{FF2B5EF4-FFF2-40B4-BE49-F238E27FC236}">
                <a16:creationId xmlns:a16="http://schemas.microsoft.com/office/drawing/2014/main" id="{52892BAE-A3A2-41DE-A1A3-0D4F5C3292FE}"/>
              </a:ext>
            </a:extLst>
          </p:cNvPr>
          <p:cNvSpPr>
            <a:spLocks xmlns:a="http://schemas.openxmlformats.org/drawingml/2006/main" noGrp="1"/>
          </p:cNvSpPr>
          <p:nvPr/>
        </p:nvSpPr>
        <p:spPr>
          <a:xfrm xmlns:a="http://schemas.openxmlformats.org/drawingml/2006/main">
            <a:off x="8362950" y="2905125"/>
            <a:ext cx="2238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F4F8FB"/>
                </a:solidFill>
              </a:defRPr>
            </a:pPr>
            <a:r>
              <a:rPr sz="1800" b="0">
                <a:solidFill>
                  <a:srgbClr val="F4F8FB"/>
                </a:solidFill>
              </a:rPr>
              <a:t>Governance / MCP policy-sensitive</a:t>
            </a:r>
          </a:p>
        </p:txBody>
      </p:sp>
      <p:sp>
        <p:nvSpPr>
          <p:cNvPr id="13" name="">
            <a:extLst xmlns:a="http://schemas.openxmlformats.org/drawingml/2006/main">
              <a:ext uri="{FF2B5EF4-FFF2-40B4-BE49-F238E27FC236}">
                <a16:creationId xmlns:a16="http://schemas.microsoft.com/office/drawing/2014/main" id="{2D3A40D0-97D2-49A0-B0F2-7FD5B73F2085}"/>
              </a:ext>
            </a:extLst>
          </p:cNvPr>
          <p:cNvSpPr>
            <a:spLocks xmlns:a="http://schemas.openxmlformats.org/drawingml/2006/main" noGrp="1"/>
          </p:cNvSpPr>
          <p:nvPr/>
        </p:nvSpPr>
        <p:spPr>
          <a:xfrm xmlns:a="http://schemas.openxmlformats.org/drawingml/2006/main">
            <a:off x="1143000" y="4524375"/>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F4F8FB"/>
                </a:solidFill>
              </a:defRPr>
            </a:pPr>
            <a:r>
              <a:rPr sz="2100" b="1">
                <a:solidFill>
                  <a:srgbClr val="F4F8FB"/>
                </a:solidFill>
              </a:rPr>
              <a:t>Matched rules</a:t>
            </a:r>
          </a:p>
        </p:txBody>
      </p:sp>
      <p:sp>
        <p:nvSpPr>
          <p:cNvPr id="14" name="">
            <a:extLst xmlns:a="http://schemas.openxmlformats.org/drawingml/2006/main">
              <a:ext uri="{FF2B5EF4-FFF2-40B4-BE49-F238E27FC236}">
                <a16:creationId xmlns:a16="http://schemas.microsoft.com/office/drawing/2014/main" id="{3C8A2C4E-F4A6-4BEE-8A7A-759D62F71D84}"/>
              </a:ext>
            </a:extLst>
          </p:cNvPr>
          <p:cNvSpPr>
            <a:spLocks xmlns:a="http://schemas.openxmlformats.org/drawingml/2006/main" noGrp="1"/>
          </p:cNvSpPr>
          <p:nvPr/>
        </p:nvSpPr>
        <p:spPr>
          <a:xfrm xmlns:a="http://schemas.openxmlformats.org/drawingml/2006/main">
            <a:off x="1143000" y="4981575"/>
            <a:ext cx="8477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A9BACB"/>
                </a:solidFill>
              </a:defRPr>
            </a:pPr>
            <a:r>
              <a:rPr sz="1800" b="0">
                <a:solidFill>
                  <a:srgbClr val="A9BACB"/>
                </a:solidFill>
              </a:rPr>
              <a:t>Same locked 16-point quality rubric. Control route measured first. Router frozen before AURA measurements. Infrastructure failures preserved separately.</a:t>
            </a:r>
          </a:p>
        </p:txBody>
      </p:sp>
    </p:spTree>
    <p:extLst>
      <p:ext uri="{BB962C8B-B14F-4D97-AF65-F5344CB8AC3E}">
        <p14:creationId xmlns:p14="http://schemas.microsoft.com/office/powerpoint/2010/main" val="1180620805"/>
      </p:ext>
    </p:extLst>
  </p:cSld>
</p:sld>
</file>

<file path=ppt/slides/slide6.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2A101E10-F792-4016-8A5C-A137D77F6039}"/>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Measured results: less overhead, stronger quality</a:t>
            </a:r>
          </a:p>
        </p:txBody>
      </p:sp>
      <p:sp>
        <p:nvSpPr>
          <p:cNvPr id="2" name="slide-subtitle">
            <a:extLst xmlns:a="http://schemas.openxmlformats.org/drawingml/2006/main">
              <a:ext uri="{FF2B5EF4-FFF2-40B4-BE49-F238E27FC236}">
                <a16:creationId xmlns:a16="http://schemas.microsoft.com/office/drawing/2014/main" id="{0CC5D2F0-0101-4F4F-A8DF-C3EC7490AA52}"/>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Measured impact across the three representative scenarios.</a:t>
            </a:r>
          </a:p>
        </p:txBody>
      </p:sp>
      <p:sp>
        <p:nvSpPr>
          <p:cNvPr id="3" name="slide-number">
            <a:extLst xmlns:a="http://schemas.openxmlformats.org/drawingml/2006/main">
              <a:ext uri="{FF2B5EF4-FFF2-40B4-BE49-F238E27FC236}">
                <a16:creationId xmlns:a16="http://schemas.microsoft.com/office/drawing/2014/main" id="{0EDA53A4-038D-4B80-945F-BADDDC42FE6C}"/>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06</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4d168ea479a4f2f"/>
          <a:stretch xmlns:a="http://schemas.openxmlformats.org/drawingml/2006/main"/>
        </p:blipFill>
        <p:spPr>
          <a:xfrm xmlns:a="http://schemas.openxmlformats.org/drawingml/2006/main">
            <a:off x="666750" y="1407319"/>
            <a:ext cx="3429000" cy="1928813"/>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118f3b2f20542d9"/>
          <a:stretch xmlns:a="http://schemas.openxmlformats.org/drawingml/2006/main"/>
        </p:blipFill>
        <p:spPr>
          <a:xfrm xmlns:a="http://schemas.openxmlformats.org/drawingml/2006/main">
            <a:off x="4381500" y="1407319"/>
            <a:ext cx="3429000" cy="1928813"/>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a58d2802712436d"/>
          <a:stretch xmlns:a="http://schemas.openxmlformats.org/drawingml/2006/main"/>
        </p:blipFill>
        <p:spPr>
          <a:xfrm xmlns:a="http://schemas.openxmlformats.org/drawingml/2006/main">
            <a:off x="8096250" y="1407319"/>
            <a:ext cx="3429000" cy="1928813"/>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CCE5AD7-0E93-4AB2-A0F3-6A929373DB36}"/>
              </a:ext>
            </a:extLst>
          </p:cNvPr>
          <p:cNvSpPr>
            <a:spLocks xmlns:a="http://schemas.openxmlformats.org/drawingml/2006/main" noGrp="1"/>
          </p:cNvSpPr>
          <p:nvPr/>
        </p:nvSpPr>
        <p:spPr>
          <a:xfrm xmlns:a="http://schemas.openxmlformats.org/drawingml/2006/main">
            <a:off x="1095375" y="4762500"/>
            <a:ext cx="2095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550" b="1">
                <a:solidFill>
                  <a:srgbClr val="7BD88F"/>
                </a:solidFill>
              </a:defRPr>
            </a:pPr>
            <a:r>
              <a:rPr sz="2550" b="1">
                <a:solidFill>
                  <a:srgbClr val="7BD88F"/>
                </a:solidFill>
              </a:rPr>
              <a:t>19.22%</a:t>
            </a:r>
          </a:p>
        </p:txBody>
      </p:sp>
      <p:sp>
        <p:nvSpPr>
          <p:cNvPr id="8" name="">
            <a:extLst xmlns:a="http://schemas.openxmlformats.org/drawingml/2006/main">
              <a:ext uri="{FF2B5EF4-FFF2-40B4-BE49-F238E27FC236}">
                <a16:creationId xmlns:a16="http://schemas.microsoft.com/office/drawing/2014/main" id="{ADC32304-4927-4321-9B53-C1565ABB8643}"/>
              </a:ext>
            </a:extLst>
          </p:cNvPr>
          <p:cNvSpPr>
            <a:spLocks xmlns:a="http://schemas.openxmlformats.org/drawingml/2006/main" noGrp="1"/>
          </p:cNvSpPr>
          <p:nvPr/>
        </p:nvSpPr>
        <p:spPr>
          <a:xfrm xmlns:a="http://schemas.openxmlformats.org/drawingml/2006/main">
            <a:off x="1095375" y="5162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A9BACB"/>
                </a:solidFill>
              </a:defRPr>
            </a:pPr>
            <a:r>
              <a:rPr sz="1425" b="0">
                <a:solidFill>
                  <a:srgbClr val="A9BACB"/>
                </a:solidFill>
              </a:rPr>
              <a:t>cost reduction</a:t>
            </a:r>
          </a:p>
        </p:txBody>
      </p:sp>
      <p:sp>
        <p:nvSpPr>
          <p:cNvPr id="9" name="">
            <a:extLst xmlns:a="http://schemas.openxmlformats.org/drawingml/2006/main">
              <a:ext uri="{FF2B5EF4-FFF2-40B4-BE49-F238E27FC236}">
                <a16:creationId xmlns:a16="http://schemas.microsoft.com/office/drawing/2014/main" id="{519EC1F6-86D6-409F-90CF-C6E4E8873EFA}"/>
              </a:ext>
            </a:extLst>
          </p:cNvPr>
          <p:cNvSpPr>
            <a:spLocks xmlns:a="http://schemas.openxmlformats.org/drawingml/2006/main" noGrp="1"/>
          </p:cNvSpPr>
          <p:nvPr/>
        </p:nvSpPr>
        <p:spPr>
          <a:xfrm xmlns:a="http://schemas.openxmlformats.org/drawingml/2006/main">
            <a:off x="3762375" y="4762500"/>
            <a:ext cx="2095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550" b="1">
                <a:solidFill>
                  <a:srgbClr val="7BD88F"/>
                </a:solidFill>
              </a:defRPr>
            </a:pPr>
            <a:r>
              <a:rPr sz="2550" b="1">
                <a:solidFill>
                  <a:srgbClr val="7BD88F"/>
                </a:solidFill>
              </a:rPr>
              <a:t>33.33%</a:t>
            </a:r>
          </a:p>
        </p:txBody>
      </p:sp>
      <p:sp>
        <p:nvSpPr>
          <p:cNvPr id="10" name="">
            <a:extLst xmlns:a="http://schemas.openxmlformats.org/drawingml/2006/main">
              <a:ext uri="{FF2B5EF4-FFF2-40B4-BE49-F238E27FC236}">
                <a16:creationId xmlns:a16="http://schemas.microsoft.com/office/drawing/2014/main" id="{8D62921A-9BD8-4649-8E3B-D97DEDB6A1E4}"/>
              </a:ext>
            </a:extLst>
          </p:cNvPr>
          <p:cNvSpPr>
            <a:spLocks xmlns:a="http://schemas.openxmlformats.org/drawingml/2006/main" noGrp="1"/>
          </p:cNvSpPr>
          <p:nvPr/>
        </p:nvSpPr>
        <p:spPr>
          <a:xfrm xmlns:a="http://schemas.openxmlformats.org/drawingml/2006/main">
            <a:off x="3762375" y="5162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A9BACB"/>
                </a:solidFill>
              </a:defRPr>
            </a:pPr>
            <a:r>
              <a:rPr sz="1425" b="0">
                <a:solidFill>
                  <a:srgbClr val="A9BACB"/>
                </a:solidFill>
              </a:rPr>
              <a:t>fewer model roles</a:t>
            </a:r>
          </a:p>
        </p:txBody>
      </p:sp>
      <p:sp>
        <p:nvSpPr>
          <p:cNvPr id="11" name="">
            <a:extLst xmlns:a="http://schemas.openxmlformats.org/drawingml/2006/main">
              <a:ext uri="{FF2B5EF4-FFF2-40B4-BE49-F238E27FC236}">
                <a16:creationId xmlns:a16="http://schemas.microsoft.com/office/drawing/2014/main" id="{B1FEDF9F-FBD6-4318-98C4-E5139498A37F}"/>
              </a:ext>
            </a:extLst>
          </p:cNvPr>
          <p:cNvSpPr>
            <a:spLocks xmlns:a="http://schemas.openxmlformats.org/drawingml/2006/main" noGrp="1"/>
          </p:cNvSpPr>
          <p:nvPr/>
        </p:nvSpPr>
        <p:spPr>
          <a:xfrm xmlns:a="http://schemas.openxmlformats.org/drawingml/2006/main">
            <a:off x="6429375" y="4762500"/>
            <a:ext cx="2095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550" b="1">
                <a:solidFill>
                  <a:srgbClr val="7BD88F"/>
                </a:solidFill>
              </a:defRPr>
            </a:pPr>
            <a:r>
              <a:rPr sz="2550" b="1">
                <a:solidFill>
                  <a:srgbClr val="7BD88F"/>
                </a:solidFill>
              </a:rPr>
              <a:t>50%</a:t>
            </a:r>
          </a:p>
        </p:txBody>
      </p:sp>
      <p:sp>
        <p:nvSpPr>
          <p:cNvPr id="12" name="">
            <a:extLst xmlns:a="http://schemas.openxmlformats.org/drawingml/2006/main">
              <a:ext uri="{FF2B5EF4-FFF2-40B4-BE49-F238E27FC236}">
                <a16:creationId xmlns:a16="http://schemas.microsoft.com/office/drawing/2014/main" id="{7715111C-8A7D-47E8-81E1-0A9C384F4830}"/>
              </a:ext>
            </a:extLst>
          </p:cNvPr>
          <p:cNvSpPr>
            <a:spLocks xmlns:a="http://schemas.openxmlformats.org/drawingml/2006/main" noGrp="1"/>
          </p:cNvSpPr>
          <p:nvPr/>
        </p:nvSpPr>
        <p:spPr>
          <a:xfrm xmlns:a="http://schemas.openxmlformats.org/drawingml/2006/main">
            <a:off x="6429375" y="5162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A9BACB"/>
                </a:solidFill>
              </a:defRPr>
            </a:pPr>
            <a:r>
              <a:rPr sz="1425" b="0">
                <a:solidFill>
                  <a:srgbClr val="A9BACB"/>
                </a:solidFill>
              </a:rPr>
              <a:t>fewer human checkpoints</a:t>
            </a:r>
          </a:p>
        </p:txBody>
      </p:sp>
      <p:sp>
        <p:nvSpPr>
          <p:cNvPr id="13" name="">
            <a:extLst xmlns:a="http://schemas.openxmlformats.org/drawingml/2006/main">
              <a:ext uri="{FF2B5EF4-FFF2-40B4-BE49-F238E27FC236}">
                <a16:creationId xmlns:a16="http://schemas.microsoft.com/office/drawing/2014/main" id="{4A7D2210-90F2-4575-987D-620D29CD4CF3}"/>
              </a:ext>
            </a:extLst>
          </p:cNvPr>
          <p:cNvSpPr>
            <a:spLocks xmlns:a="http://schemas.openxmlformats.org/drawingml/2006/main" noGrp="1"/>
          </p:cNvSpPr>
          <p:nvPr/>
        </p:nvSpPr>
        <p:spPr>
          <a:xfrm xmlns:a="http://schemas.openxmlformats.org/drawingml/2006/main">
            <a:off x="9096375" y="4762500"/>
            <a:ext cx="2095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B08CFF"/>
                </a:solidFill>
              </a:defRPr>
            </a:pPr>
            <a:r>
              <a:rPr sz="2100" b="1">
                <a:solidFill>
                  <a:srgbClr val="B08CFF"/>
                </a:solidFill>
              </a:rPr>
              <a:t>44/48 -&gt; 48/48</a:t>
            </a:r>
          </a:p>
        </p:txBody>
      </p:sp>
      <p:sp>
        <p:nvSpPr>
          <p:cNvPr id="14" name="">
            <a:extLst xmlns:a="http://schemas.openxmlformats.org/drawingml/2006/main">
              <a:ext uri="{FF2B5EF4-FFF2-40B4-BE49-F238E27FC236}">
                <a16:creationId xmlns:a16="http://schemas.microsoft.com/office/drawing/2014/main" id="{342B431F-AB74-42D8-96D1-7854CF1FABBA}"/>
              </a:ext>
            </a:extLst>
          </p:cNvPr>
          <p:cNvSpPr>
            <a:spLocks xmlns:a="http://schemas.openxmlformats.org/drawingml/2006/main" noGrp="1"/>
          </p:cNvSpPr>
          <p:nvPr/>
        </p:nvSpPr>
        <p:spPr>
          <a:xfrm xmlns:a="http://schemas.openxmlformats.org/drawingml/2006/main">
            <a:off x="9096375" y="5162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A9BACB"/>
                </a:solidFill>
              </a:defRPr>
            </a:pPr>
            <a:r>
              <a:rPr sz="1425" b="0">
                <a:solidFill>
                  <a:srgbClr val="A9BACB"/>
                </a:solidFill>
              </a:rPr>
              <a:t>quality improved</a:t>
            </a:r>
          </a:p>
        </p:txBody>
      </p:sp>
    </p:spTree>
    <p:extLst>
      <p:ext uri="{BB962C8B-B14F-4D97-AF65-F5344CB8AC3E}">
        <p14:creationId xmlns:p14="http://schemas.microsoft.com/office/powerpoint/2010/main" val="1043976208"/>
      </p:ext>
    </p:extLst>
  </p:cSld>
</p:sld>
</file>

<file path=ppt/slides/slide7.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3DD3937-E9E3-4CAE-9502-4A12C9E29A3F}"/>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Governance stopped a real overreach attempt</a:t>
            </a:r>
          </a:p>
        </p:txBody>
      </p:sp>
      <p:sp>
        <p:nvSpPr>
          <p:cNvPr id="2" name="slide-subtitle">
            <a:extLst xmlns:a="http://schemas.openxmlformats.org/drawingml/2006/main">
              <a:ext uri="{FF2B5EF4-FFF2-40B4-BE49-F238E27FC236}">
                <a16:creationId xmlns:a16="http://schemas.microsoft.com/office/drawing/2014/main" id="{1CD34619-D035-4DF5-B30B-F433419FC6D7}"/>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The runtime denied a Project-Manager-only action from an implementer.</a:t>
            </a:r>
          </a:p>
        </p:txBody>
      </p:sp>
      <p:sp>
        <p:nvSpPr>
          <p:cNvPr id="3" name="slide-number">
            <a:extLst xmlns:a="http://schemas.openxmlformats.org/drawingml/2006/main">
              <a:ext uri="{FF2B5EF4-FFF2-40B4-BE49-F238E27FC236}">
                <a16:creationId xmlns:a16="http://schemas.microsoft.com/office/drawing/2014/main" id="{7723402C-13AB-4D24-B0F9-9324EB6D890C}"/>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07</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91243cbdc8a4267"/>
          <a:stretch xmlns:a="http://schemas.openxmlformats.org/drawingml/2006/main"/>
        </p:blipFill>
        <p:spPr>
          <a:xfrm xmlns:a="http://schemas.openxmlformats.org/drawingml/2006/main">
            <a:off x="933450" y="1416844"/>
            <a:ext cx="6477000" cy="3643313"/>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D387B04-02DB-4B5A-A113-4D09C7C2DA34}"/>
              </a:ext>
            </a:extLst>
          </p:cNvPr>
          <p:cNvSpPr>
            <a:spLocks xmlns:a="http://schemas.openxmlformats.org/drawingml/2006/main" noGrp="1"/>
          </p:cNvSpPr>
          <p:nvPr/>
        </p:nvSpPr>
        <p:spPr>
          <a:xfrm xmlns:a="http://schemas.openxmlformats.org/drawingml/2006/main">
            <a:off x="7905750" y="1666875"/>
            <a:ext cx="266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FF6B6B"/>
                </a:solidFill>
              </a:defRPr>
            </a:pPr>
            <a:r>
              <a:rPr sz="2100" b="1">
                <a:solidFill>
                  <a:srgbClr val="FF6B6B"/>
                </a:solidFill>
              </a:rPr>
              <a:t>Sanitized denial</a:t>
            </a:r>
          </a:p>
        </p:txBody>
      </p:sp>
      <p:sp>
        <p:nvSpPr>
          <p:cNvPr id="6" name="">
            <a:extLst xmlns:a="http://schemas.openxmlformats.org/drawingml/2006/main">
              <a:ext uri="{FF2B5EF4-FFF2-40B4-BE49-F238E27FC236}">
                <a16:creationId xmlns:a16="http://schemas.microsoft.com/office/drawing/2014/main" id="{661E8A7B-FC1F-417C-8F45-85DFCA54884A}"/>
              </a:ext>
            </a:extLst>
          </p:cNvPr>
          <p:cNvSpPr>
            <a:spLocks xmlns:a="http://schemas.openxmlformats.org/drawingml/2006/main" noGrp="1"/>
          </p:cNvSpPr>
          <p:nvPr/>
        </p:nvSpPr>
        <p:spPr>
          <a:xfrm xmlns:a="http://schemas.openxmlformats.org/drawingml/2006/main">
            <a:off x="7905750" y="2190750"/>
            <a:ext cx="2952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F4F8FB"/>
                </a:solidFill>
              </a:defRPr>
            </a:pPr>
            <a:r>
              <a:rPr sz="1800" b="0">
                <a:solidFill>
                  <a:srgbClr val="F4F8FB"/>
                </a:solidFill>
              </a:rPr>
              <a:t>Authorization error: role 'implementer' is not on the allow-list for task_tracker. Allowed roles: ['project-manager'].</a:t>
            </a:r>
          </a:p>
        </p:txBody>
      </p:sp>
      <p:sp>
        <p:nvSpPr>
          <p:cNvPr id="7" name="">
            <a:extLst xmlns:a="http://schemas.openxmlformats.org/drawingml/2006/main">
              <a:ext uri="{FF2B5EF4-FFF2-40B4-BE49-F238E27FC236}">
                <a16:creationId xmlns:a16="http://schemas.microsoft.com/office/drawing/2014/main" id="{B6481718-B7C9-4A6F-93D2-02135F0A3D07}"/>
              </a:ext>
            </a:extLst>
          </p:cNvPr>
          <p:cNvSpPr>
            <a:spLocks xmlns:a="http://schemas.openxmlformats.org/drawingml/2006/main" noGrp="1"/>
          </p:cNvSpPr>
          <p:nvPr/>
        </p:nvSpPr>
        <p:spPr>
          <a:xfrm xmlns:a="http://schemas.openxmlformats.org/drawingml/2006/main">
            <a:off x="7905750" y="4095750"/>
            <a:ext cx="314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A9BACB"/>
                </a:solidFill>
              </a:defRPr>
            </a:pPr>
            <a:r>
              <a:rPr sz="1800" b="0">
                <a:solidFill>
                  <a:srgbClr val="A9BACB"/>
                </a:solidFill>
              </a:rPr>
              <a:t>This matters because the role that changes files cannot also mark the work complete.</a:t>
            </a:r>
          </a:p>
        </p:txBody>
      </p:sp>
    </p:spTree>
    <p:extLst>
      <p:ext uri="{BB962C8B-B14F-4D97-AF65-F5344CB8AC3E}">
        <p14:creationId xmlns:p14="http://schemas.microsoft.com/office/powerpoint/2010/main" val="295806931"/>
      </p:ext>
    </p:extLst>
  </p:cSld>
</p:sld>
</file>

<file path=ppt/slides/slide8.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616B3FCE-C0A9-4808-9D28-F390AC5793E0}"/>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CI made the engineering gates visible</a:t>
            </a:r>
          </a:p>
        </p:txBody>
      </p:sp>
      <p:sp>
        <p:nvSpPr>
          <p:cNvPr id="2" name="slide-subtitle">
            <a:extLst xmlns:a="http://schemas.openxmlformats.org/drawingml/2006/main">
              <a:ext uri="{FF2B5EF4-FFF2-40B4-BE49-F238E27FC236}">
                <a16:creationId xmlns:a16="http://schemas.microsoft.com/office/drawing/2014/main" id="{C68FD5DF-77E7-4884-9949-8C68DF14E762}"/>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The final branch passed the permanent governance workflow.</a:t>
            </a:r>
          </a:p>
        </p:txBody>
      </p:sp>
      <p:sp>
        <p:nvSpPr>
          <p:cNvPr id="3" name="slide-number">
            <a:extLst xmlns:a="http://schemas.openxmlformats.org/drawingml/2006/main">
              <a:ext uri="{FF2B5EF4-FFF2-40B4-BE49-F238E27FC236}">
                <a16:creationId xmlns:a16="http://schemas.microsoft.com/office/drawing/2014/main" id="{979554AA-EF99-4DA3-8119-07180D06B456}"/>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08</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3514bd77e654a68"/>
          <a:stretch xmlns:a="http://schemas.openxmlformats.org/drawingml/2006/main"/>
        </p:blipFill>
        <p:spPr>
          <a:xfrm xmlns:a="http://schemas.openxmlformats.org/drawingml/2006/main">
            <a:off x="876300" y="1418630"/>
            <a:ext cx="6572250" cy="369689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6915D36-CADF-415E-A9CD-7D3B885F7B5E}"/>
              </a:ext>
            </a:extLst>
          </p:cNvPr>
          <p:cNvSpPr>
            <a:spLocks xmlns:a="http://schemas.openxmlformats.org/drawingml/2006/main" noGrp="1"/>
          </p:cNvSpPr>
          <p:nvPr/>
        </p:nvSpPr>
        <p:spPr>
          <a:xfrm xmlns:a="http://schemas.openxmlformats.org/drawingml/2006/main">
            <a:off x="8001000" y="1619250"/>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4CC9F0"/>
                </a:solidFill>
              </a:defRPr>
            </a:pPr>
            <a:r>
              <a:rPr sz="2100" b="1">
                <a:solidFill>
                  <a:srgbClr val="4CC9F0"/>
                </a:solidFill>
              </a:rPr>
              <a:t>CI path</a:t>
            </a:r>
          </a:p>
        </p:txBody>
      </p:sp>
      <p:sp>
        <p:nvSpPr>
          <p:cNvPr id="6" name="">
            <a:extLst xmlns:a="http://schemas.openxmlformats.org/drawingml/2006/main">
              <a:ext uri="{FF2B5EF4-FFF2-40B4-BE49-F238E27FC236}">
                <a16:creationId xmlns:a16="http://schemas.microsoft.com/office/drawing/2014/main" id="{6735E823-0E4B-48EA-BCC9-FD45E3C313A8}"/>
              </a:ext>
            </a:extLst>
          </p:cNvPr>
          <p:cNvSpPr>
            <a:spLocks xmlns:a="http://schemas.openxmlformats.org/drawingml/2006/main" noGrp="1"/>
          </p:cNvSpPr>
          <p:nvPr/>
        </p:nvSpPr>
        <p:spPr>
          <a:xfrm xmlns:a="http://schemas.openxmlformats.org/drawingml/2006/main">
            <a:off x="8001000" y="2095500"/>
            <a:ext cx="314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F4F8FB"/>
                </a:solidFill>
              </a:defRPr>
            </a:pPr>
            <a:r>
              <a:rPr sz="1950" b="1">
                <a:solidFill>
                  <a:srgbClr val="F4F8FB"/>
                </a:solidFill>
              </a:rPr>
              <a:t>first failed CI -&gt; diagnosis -&gt; repair -&gt; green CI</a:t>
            </a:r>
          </a:p>
        </p:txBody>
      </p:sp>
      <p:sp>
        <p:nvSpPr>
          <p:cNvPr id="7" name="">
            <a:extLst xmlns:a="http://schemas.openxmlformats.org/drawingml/2006/main">
              <a:ext uri="{FF2B5EF4-FFF2-40B4-BE49-F238E27FC236}">
                <a16:creationId xmlns:a16="http://schemas.microsoft.com/office/drawing/2014/main" id="{A2F6BDA7-4A8E-4338-AEFE-ADEE579046E3}"/>
              </a:ext>
            </a:extLst>
          </p:cNvPr>
          <p:cNvSpPr>
            <a:spLocks xmlns:a="http://schemas.openxmlformats.org/drawingml/2006/main" noGrp="1"/>
          </p:cNvSpPr>
          <p:nvPr/>
        </p:nvSpPr>
        <p:spPr>
          <a:xfrm xmlns:a="http://schemas.openxmlformats.org/drawingml/2006/main">
            <a:off x="8001000" y="32194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0">
                <a:solidFill>
                  <a:srgbClr val="A9BACB"/>
                </a:solidFill>
              </a:defRPr>
            </a:pPr>
            <a:r>
              <a:rPr sz="1725" b="0">
                <a:solidFill>
                  <a:srgbClr val="A9BACB"/>
                </a:solidFill>
              </a:rPr>
              <a:t>Final run 31517900793 passed change classification, policy tests, evaluation, pipeline integrity, audit trail, and advisory graceful skip.</a:t>
            </a:r>
          </a:p>
        </p:txBody>
      </p:sp>
    </p:spTree>
    <p:extLst>
      <p:ext uri="{BB962C8B-B14F-4D97-AF65-F5344CB8AC3E}">
        <p14:creationId xmlns:p14="http://schemas.microsoft.com/office/powerpoint/2010/main" val="258011969"/>
      </p:ext>
    </p:extLst>
  </p:cSld>
</p:sld>
</file>

<file path=ppt/slides/slide9.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A74347A2-671C-423B-B3E4-03DC1A2BB049}"/>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Change Passport proves readiness</a:t>
            </a:r>
          </a:p>
        </p:txBody>
      </p:sp>
      <p:sp>
        <p:nvSpPr>
          <p:cNvPr id="2" name="slide-subtitle">
            <a:extLst xmlns:a="http://schemas.openxmlformats.org/drawingml/2006/main">
              <a:ext uri="{FF2B5EF4-FFF2-40B4-BE49-F238E27FC236}">
                <a16:creationId xmlns:a16="http://schemas.microsoft.com/office/drawing/2014/main" id="{B719761B-7418-4D98-B327-672598BB9C51}"/>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Readiness is backed by machine evidence, not a claim.</a:t>
            </a:r>
          </a:p>
        </p:txBody>
      </p:sp>
      <p:sp>
        <p:nvSpPr>
          <p:cNvPr id="3" name="slide-number">
            <a:extLst xmlns:a="http://schemas.openxmlformats.org/drawingml/2006/main">
              <a:ext uri="{FF2B5EF4-FFF2-40B4-BE49-F238E27FC236}">
                <a16:creationId xmlns:a16="http://schemas.microsoft.com/office/drawing/2014/main" id="{51DF9D3C-D23B-4B00-A662-89C5A8BB09A1}"/>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09</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bdc2e2d240946d8"/>
          <a:stretch xmlns:a="http://schemas.openxmlformats.org/drawingml/2006/main"/>
        </p:blipFill>
        <p:spPr>
          <a:xfrm xmlns:a="http://schemas.openxmlformats.org/drawingml/2006/main">
            <a:off x="762000" y="1559719"/>
            <a:ext cx="5715000" cy="3214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cfa23d434224dc6"/>
          <a:stretch xmlns:a="http://schemas.openxmlformats.org/drawingml/2006/main"/>
        </p:blipFill>
        <p:spPr>
          <a:xfrm xmlns:a="http://schemas.openxmlformats.org/drawingml/2006/main">
            <a:off x="6667500" y="1815703"/>
            <a:ext cx="4381500" cy="2464594"/>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6C8D5C1-B374-44A2-AFC9-231B391F3844}"/>
              </a:ext>
            </a:extLst>
          </p:cNvPr>
          <p:cNvSpPr>
            <a:spLocks xmlns:a="http://schemas.openxmlformats.org/drawingml/2006/main" noGrp="1"/>
          </p:cNvSpPr>
          <p:nvPr/>
        </p:nvSpPr>
        <p:spPr>
          <a:xfrm xmlns:a="http://schemas.openxmlformats.org/drawingml/2006/main">
            <a:off x="1238250" y="5572125"/>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0">
                <a:solidFill>
                  <a:srgbClr val="A9BACB"/>
                </a:solidFill>
              </a:defRPr>
            </a:pPr>
            <a:r>
              <a:rPr sz="1725" b="0">
                <a:solidFill>
                  <a:srgbClr val="A9BACB"/>
                </a:solidFill>
              </a:rPr>
              <a:t>A separate deterministic conversion showed one narrow factual check could run with $0 model cost and about 0.156 ms local runtime.</a:t>
            </a:r>
          </a:p>
        </p:txBody>
      </p:sp>
    </p:spTree>
    <p:extLst>
      <p:ext uri="{BB962C8B-B14F-4D97-AF65-F5344CB8AC3E}">
        <p14:creationId xmlns:p14="http://schemas.microsoft.com/office/powerpoint/2010/main" val="716347752"/>
      </p:ext>
    </p:extLst>
  </p:cSld>
</p:sld>
</file>

<file path=ppt/slides/slide10.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C3279E94-4D9F-4C68-864A-3971A7C67E94}"/>
              </a:ext>
            </a:extLst>
          </p:cNvPr>
          <p:cNvSpPr>
            <a:spLocks xmlns:a="http://schemas.openxmlformats.org/drawingml/2006/main" noGrp="1"/>
          </p:cNvSpPr>
          <p:nvPr/>
        </p:nvSpPr>
        <p:spPr>
          <a:xfrm xmlns:a="http://schemas.openxmlformats.org/drawingml/2006/main">
            <a:off x="666750" y="32385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850" b="1">
                <a:solidFill>
                  <a:srgbClr val="F4F8FB"/>
                </a:solidFill>
              </a:defRPr>
            </a:pPr>
            <a:r>
              <a:rPr sz="2850" b="1">
                <a:solidFill>
                  <a:srgbClr val="F4F8FB"/>
                </a:solidFill>
              </a:rPr>
              <a:t>Impact is measured, bounded, and honest</a:t>
            </a:r>
          </a:p>
        </p:txBody>
      </p:sp>
      <p:sp>
        <p:nvSpPr>
          <p:cNvPr id="2" name="slide-subtitle">
            <a:extLst xmlns:a="http://schemas.openxmlformats.org/drawingml/2006/main">
              <a:ext uri="{FF2B5EF4-FFF2-40B4-BE49-F238E27FC236}">
                <a16:creationId xmlns:a16="http://schemas.microsoft.com/office/drawing/2014/main" id="{C2F0DF24-3D29-4765-8545-1D74B8086A12}"/>
              </a:ext>
            </a:extLst>
          </p:cNvPr>
          <p:cNvSpPr>
            <a:spLocks xmlns:a="http://schemas.openxmlformats.org/drawingml/2006/main" noGrp="1"/>
          </p:cNvSpPr>
          <p:nvPr/>
        </p:nvSpPr>
        <p:spPr>
          <a:xfrm xmlns:a="http://schemas.openxmlformats.org/drawingml/2006/main">
            <a:off x="666750" y="838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A9BACB"/>
                </a:solidFill>
              </a:defRPr>
            </a:pPr>
            <a:r>
              <a:rPr sz="1350" b="0">
                <a:solidFill>
                  <a:srgbClr val="A9BACB"/>
                </a:solidFill>
              </a:rPr>
              <a:t>The best agentic system knows when not to use agents.</a:t>
            </a:r>
          </a:p>
        </p:txBody>
      </p:sp>
      <p:sp>
        <p:nvSpPr>
          <p:cNvPr id="3" name="slide-number">
            <a:extLst xmlns:a="http://schemas.openxmlformats.org/drawingml/2006/main">
              <a:ext uri="{FF2B5EF4-FFF2-40B4-BE49-F238E27FC236}">
                <a16:creationId xmlns:a16="http://schemas.microsoft.com/office/drawing/2014/main" id="{0A77538A-6E37-4D11-89F5-566F0AF48BB1}"/>
              </a:ext>
            </a:extLst>
          </p:cNvPr>
          <p:cNvSpPr>
            <a:spLocks xmlns:a="http://schemas.openxmlformats.org/drawingml/2006/main" noGrp="1"/>
          </p:cNvSpPr>
          <p:nvPr/>
        </p:nvSpPr>
        <p:spPr>
          <a:xfrm xmlns:a="http://schemas.openxmlformats.org/drawingml/2006/main">
            <a:off x="11049000" y="61912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6F8499"/>
                </a:solidFill>
              </a:defRPr>
            </a:pPr>
            <a:r>
              <a:rPr sz="1200" b="1">
                <a:solidFill>
                  <a:srgbClr val="6F8499"/>
                </a:solidFill>
              </a:rPr>
              <a:t>10</a:t>
            </a:r>
          </a:p>
        </p:txBody>
      </p:sp>
      <p:sp>
        <p:nvSpPr>
          <p:cNvPr id="4" name="">
            <a:extLst xmlns:a="http://schemas.openxmlformats.org/drawingml/2006/main">
              <a:ext uri="{FF2B5EF4-FFF2-40B4-BE49-F238E27FC236}">
                <a16:creationId xmlns:a16="http://schemas.microsoft.com/office/drawing/2014/main" id="{C667FB15-9113-43BD-80F0-81260E3913AE}"/>
              </a:ext>
            </a:extLst>
          </p:cNvPr>
          <p:cNvSpPr>
            <a:spLocks xmlns:a="http://schemas.openxmlformats.org/drawingml/2006/main" noGrp="1"/>
          </p:cNvSpPr>
          <p:nvPr/>
        </p:nvSpPr>
        <p:spPr>
          <a:xfrm xmlns:a="http://schemas.openxmlformats.org/drawingml/2006/main">
            <a:off x="1000125" y="16192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7BD88F"/>
                </a:solidFill>
              </a:defRPr>
            </a:pPr>
            <a:r>
              <a:rPr sz="2250" b="1">
                <a:solidFill>
                  <a:srgbClr val="7BD88F"/>
                </a:solidFill>
              </a:rPr>
              <a:t>Measured impact</a:t>
            </a:r>
          </a:p>
        </p:txBody>
      </p:sp>
      <p:sp>
        <p:nvSpPr>
          <p:cNvPr id="5" name="">
            <a:extLst xmlns:a="http://schemas.openxmlformats.org/drawingml/2006/main">
              <a:ext uri="{FF2B5EF4-FFF2-40B4-BE49-F238E27FC236}">
                <a16:creationId xmlns:a16="http://schemas.microsoft.com/office/drawing/2014/main" id="{495848EC-E590-47D6-9334-91CD47F8F84C}"/>
              </a:ext>
            </a:extLst>
          </p:cNvPr>
          <p:cNvSpPr>
            <a:spLocks xmlns:a="http://schemas.openxmlformats.org/drawingml/2006/main" noGrp="1"/>
          </p:cNvSpPr>
          <p:nvPr/>
        </p:nvSpPr>
        <p:spPr>
          <a:xfrm xmlns:a="http://schemas.openxmlformats.org/drawingml/2006/main">
            <a:off x="1000125" y="2143125"/>
            <a:ext cx="4000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F4F8FB"/>
                </a:solidFill>
              </a:defRPr>
            </a:pPr>
            <a:r>
              <a:rPr sz="2250" b="1">
                <a:solidFill>
                  <a:srgbClr val="F4F8FB"/>
                </a:solidFill>
              </a:rPr>
              <a:t>Quality improved. LOW and MEDIUM overhead dropped. HIGH governance stayed in place.</a:t>
            </a:r>
          </a:p>
        </p:txBody>
      </p:sp>
      <p:sp>
        <p:nvSpPr>
          <p:cNvPr id="6" name="">
            <a:extLst xmlns:a="http://schemas.openxmlformats.org/drawingml/2006/main">
              <a:ext uri="{FF2B5EF4-FFF2-40B4-BE49-F238E27FC236}">
                <a16:creationId xmlns:a16="http://schemas.microsoft.com/office/drawing/2014/main" id="{4327C8C2-E543-4E11-A1C2-FDD05AA4F3A8}"/>
              </a:ext>
            </a:extLst>
          </p:cNvPr>
          <p:cNvSpPr>
            <a:spLocks xmlns:a="http://schemas.openxmlformats.org/drawingml/2006/main" noGrp="1"/>
          </p:cNvSpPr>
          <p:nvPr/>
        </p:nvSpPr>
        <p:spPr>
          <a:xfrm xmlns:a="http://schemas.openxmlformats.org/drawingml/2006/main">
            <a:off x="6572250" y="16192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F6C85F"/>
                </a:solidFill>
              </a:defRPr>
            </a:pPr>
            <a:r>
              <a:rPr sz="2250" b="1">
                <a:solidFill>
                  <a:srgbClr val="F6C85F"/>
                </a:solidFill>
              </a:rPr>
              <a:t>Limitations</a:t>
            </a:r>
          </a:p>
        </p:txBody>
      </p:sp>
      <p:sp>
        <p:nvSpPr>
          <p:cNvPr id="7" name="">
            <a:extLst xmlns:a="http://schemas.openxmlformats.org/drawingml/2006/main">
              <a:ext uri="{FF2B5EF4-FFF2-40B4-BE49-F238E27FC236}">
                <a16:creationId xmlns:a16="http://schemas.microsoft.com/office/drawing/2014/main" id="{161559E7-ECA4-4184-8892-4FE13349C556}"/>
              </a:ext>
            </a:extLst>
          </p:cNvPr>
          <p:cNvSpPr>
            <a:spLocks xmlns:a="http://schemas.openxmlformats.org/drawingml/2006/main" noGrp="1"/>
          </p:cNvSpPr>
          <p:nvPr/>
        </p:nvSpPr>
        <p:spPr>
          <a:xfrm xmlns:a="http://schemas.openxmlformats.org/drawingml/2006/main">
            <a:off x="6572250" y="2143125"/>
            <a:ext cx="40957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100" b="1">
                <a:solidFill>
                  <a:srgbClr val="F4F8FB"/>
                </a:solidFill>
              </a:defRPr>
            </a:pPr>
            <a:r>
              <a:rPr sz="2100" b="1">
                <a:solidFill>
                  <a:srgbClr val="F4F8FB"/>
                </a:solidFill>
              </a:rPr>
              <a:t>Three representative scenarios only. No production deployment. Advisory AI was unavailable in CI and intentionally degraded safely.</a:t>
            </a:r>
          </a:p>
        </p:txBody>
      </p:sp>
      <p:sp>
        <p:nvSpPr>
          <p:cNvPr id="8" name="">
            <a:extLst xmlns:a="http://schemas.openxmlformats.org/drawingml/2006/main">
              <a:ext uri="{FF2B5EF4-FFF2-40B4-BE49-F238E27FC236}">
                <a16:creationId xmlns:a16="http://schemas.microsoft.com/office/drawing/2014/main" id="{35B8FBF4-E67B-4592-843E-E5D955A4FE43}"/>
              </a:ext>
            </a:extLst>
          </p:cNvPr>
          <p:cNvSpPr>
            <a:spLocks xmlns:a="http://schemas.openxmlformats.org/drawingml/2006/main" noGrp="1"/>
          </p:cNvSpPr>
          <p:nvPr/>
        </p:nvSpPr>
        <p:spPr>
          <a:xfrm xmlns:a="http://schemas.openxmlformats.org/drawingml/2006/main">
            <a:off x="1571625" y="4333875"/>
            <a:ext cx="8382000" cy="876300"/>
          </a:xfrm>
          <a:prstGeom xmlns:a="http://schemas.openxmlformats.org/drawingml/2006/main" prst="roundRect">
            <a:avLst>
              <a:gd name="adj" fmla="val 8696"/>
            </a:avLst>
          </a:prstGeom>
          <a:solidFill xmlns:a="http://schemas.openxmlformats.org/drawingml/2006/main">
            <a:srgbClr val="17314D"/>
          </a:solidFill>
          <a:ln xmlns:a="http://schemas.openxmlformats.org/drawingml/2006/main" w="11430">
            <a:solidFill>
              <a:srgbClr val="4CC9F0"/>
            </a:solidFill>
            <a:prstDash val="solid"/>
          </a:ln>
        </p:spPr>
      </p:sp>
      <p:sp>
        <p:nvSpPr>
          <p:cNvPr id="9" name="">
            <a:extLst xmlns:a="http://schemas.openxmlformats.org/drawingml/2006/main">
              <a:ext uri="{FF2B5EF4-FFF2-40B4-BE49-F238E27FC236}">
                <a16:creationId xmlns:a16="http://schemas.microsoft.com/office/drawing/2014/main" id="{BF8CF9A6-EB6C-4570-9D18-A0137E600F47}"/>
              </a:ext>
            </a:extLst>
          </p:cNvPr>
          <p:cNvSpPr>
            <a:spLocks xmlns:a="http://schemas.openxmlformats.org/drawingml/2006/main" noGrp="1"/>
          </p:cNvSpPr>
          <p:nvPr/>
        </p:nvSpPr>
        <p:spPr>
          <a:xfrm xmlns:a="http://schemas.openxmlformats.org/drawingml/2006/main">
            <a:off x="1952625" y="4619625"/>
            <a:ext cx="762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F4F8FB"/>
                </a:solidFill>
              </a:defRPr>
            </a:pPr>
            <a:r>
              <a:rPr sz="2025" b="1">
                <a:solidFill>
                  <a:srgbClr val="F4F8FB"/>
                </a:solidFill>
              </a:rPr>
              <a:t>Final takeaway: AURA Forge gives each change the minimum autonomy it deserves, then proves the route stayed inside policy.</a:t>
            </a:r>
          </a:p>
        </p:txBody>
      </p:sp>
    </p:spTree>
    <p:extLst>
      <p:ext uri="{BB962C8B-B14F-4D97-AF65-F5344CB8AC3E}">
        <p14:creationId xmlns:p14="http://schemas.microsoft.com/office/powerpoint/2010/main" val="18699490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2026-08-11T17:57:49.6360000Z</dcterms:created>
  <dcterms:modified xsi:type="dcterms:W3CDTF">2026-08-11T17:57:49.6360000Z</dcterms:modified>
</coreProperties>
</file>